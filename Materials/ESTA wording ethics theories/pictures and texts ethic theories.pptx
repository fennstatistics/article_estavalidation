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74" r:id="rId2"/>
    <p:sldId id="270" r:id="rId3"/>
    <p:sldId id="272" r:id="rId4"/>
    <p:sldId id="273" r:id="rId5"/>
    <p:sldId id="275" r:id="rId6"/>
    <p:sldId id="277" r:id="rId7"/>
    <p:sldId id="278" r:id="rId8"/>
    <p:sldId id="27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18" d="100"/>
          <a:sy n="118" d="100"/>
        </p:scale>
        <p:origin x="11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18B76-8C14-416D-9668-D806796A347F}" type="datetimeFigureOut">
              <a:rPr lang="en-US" smtClean="0"/>
              <a:t>7/29/2025</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C30C9BA-E0B7-4BFD-BB62-0AFFE93AF173}" type="slidenum">
              <a:rPr lang="en-US" smtClean="0"/>
              <a:t>‹Nr.›</a:t>
            </a:fld>
            <a:endParaRPr lang="en-US"/>
          </a:p>
        </p:txBody>
      </p:sp>
    </p:spTree>
    <p:extLst>
      <p:ext uri="{BB962C8B-B14F-4D97-AF65-F5344CB8AC3E}">
        <p14:creationId xmlns:p14="http://schemas.microsoft.com/office/powerpoint/2010/main" val="3904511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DF4D9D-A516-4D8F-8BFE-BFF41DF32F2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US"/>
          </a:p>
        </p:txBody>
      </p:sp>
      <p:sp>
        <p:nvSpPr>
          <p:cNvPr id="3" name="Untertitel 2">
            <a:extLst>
              <a:ext uri="{FF2B5EF4-FFF2-40B4-BE49-F238E27FC236}">
                <a16:creationId xmlns:a16="http://schemas.microsoft.com/office/drawing/2014/main" id="{8B0C30F9-8A72-4F62-8159-EAE727E3A3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a:p>
        </p:txBody>
      </p:sp>
      <p:sp>
        <p:nvSpPr>
          <p:cNvPr id="4" name="Datumsplatzhalter 3">
            <a:extLst>
              <a:ext uri="{FF2B5EF4-FFF2-40B4-BE49-F238E27FC236}">
                <a16:creationId xmlns:a16="http://schemas.microsoft.com/office/drawing/2014/main" id="{7F1AE848-5C27-4DC8-A24C-2C3B726C8D0A}"/>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5" name="Fußzeilenplatzhalter 4">
            <a:extLst>
              <a:ext uri="{FF2B5EF4-FFF2-40B4-BE49-F238E27FC236}">
                <a16:creationId xmlns:a16="http://schemas.microsoft.com/office/drawing/2014/main" id="{BD0C4877-4690-4D1E-821C-A036DF456AD0}"/>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32FF0922-4800-4BCB-B6C6-4C872EC56701}"/>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1944346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163C9B-6CE6-4CAB-AEB3-96FDB158D823}"/>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8EE6FFC9-DF68-4FEB-82F8-C2EE2AA7D10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172CF5CB-8A8B-4813-9F36-20EA9FD4EC58}"/>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5" name="Fußzeilenplatzhalter 4">
            <a:extLst>
              <a:ext uri="{FF2B5EF4-FFF2-40B4-BE49-F238E27FC236}">
                <a16:creationId xmlns:a16="http://schemas.microsoft.com/office/drawing/2014/main" id="{CE694E0B-435E-439F-858B-DFD211C2AE9E}"/>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DF80DFEB-8A12-4383-99E5-737B1751EDF9}"/>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37281112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976D28F-5AFF-4A9C-9C4D-10702DEAEAE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US"/>
          </a:p>
        </p:txBody>
      </p:sp>
      <p:sp>
        <p:nvSpPr>
          <p:cNvPr id="3" name="Textplatzhalter 2">
            <a:extLst>
              <a:ext uri="{FF2B5EF4-FFF2-40B4-BE49-F238E27FC236}">
                <a16:creationId xmlns:a16="http://schemas.microsoft.com/office/drawing/2014/main" id="{0759C927-39C2-4991-837D-094EDC7EF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FB9BF22D-F88B-45EC-8902-0BB12220B9BF}"/>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5" name="Fußzeilenplatzhalter 4">
            <a:extLst>
              <a:ext uri="{FF2B5EF4-FFF2-40B4-BE49-F238E27FC236}">
                <a16:creationId xmlns:a16="http://schemas.microsoft.com/office/drawing/2014/main" id="{C5D94266-EBDB-46AA-89E8-D77FBD52A8C5}"/>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FEC810C5-5AE9-4427-B04C-3190A75BF7F0}"/>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1355513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BB438A-6932-43DD-9A4B-E82F03441486}"/>
              </a:ext>
            </a:extLst>
          </p:cNvPr>
          <p:cNvSpPr>
            <a:spLocks noGrp="1"/>
          </p:cNvSpPr>
          <p:nvPr>
            <p:ph type="title"/>
          </p:nvPr>
        </p:nvSpPr>
        <p:spPr/>
        <p:txBody>
          <a:bodyPr/>
          <a:lstStyle/>
          <a:p>
            <a:r>
              <a:rPr lang="de-DE"/>
              <a:t>Mastertitelformat bearbeiten</a:t>
            </a:r>
            <a:endParaRPr lang="en-US"/>
          </a:p>
        </p:txBody>
      </p:sp>
      <p:sp>
        <p:nvSpPr>
          <p:cNvPr id="3" name="Inhaltsplatzhalter 2">
            <a:extLst>
              <a:ext uri="{FF2B5EF4-FFF2-40B4-BE49-F238E27FC236}">
                <a16:creationId xmlns:a16="http://schemas.microsoft.com/office/drawing/2014/main" id="{0101582F-84BF-4C78-B828-5CB82DBEA126}"/>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Inhaltsplatzhalter 3">
            <a:extLst>
              <a:ext uri="{FF2B5EF4-FFF2-40B4-BE49-F238E27FC236}">
                <a16:creationId xmlns:a16="http://schemas.microsoft.com/office/drawing/2014/main" id="{C67AD9B6-3772-485E-8867-4E87351983FA}"/>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Datumsplatzhalter 4">
            <a:extLst>
              <a:ext uri="{FF2B5EF4-FFF2-40B4-BE49-F238E27FC236}">
                <a16:creationId xmlns:a16="http://schemas.microsoft.com/office/drawing/2014/main" id="{FC4F916E-F35E-4E55-B9EC-649712DDE40D}"/>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6" name="Fußzeilenplatzhalter 5">
            <a:extLst>
              <a:ext uri="{FF2B5EF4-FFF2-40B4-BE49-F238E27FC236}">
                <a16:creationId xmlns:a16="http://schemas.microsoft.com/office/drawing/2014/main" id="{A98EADFA-55AB-4086-99AA-B3FD57007AF9}"/>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E75F5B70-E64D-429C-A14A-E0055101F9FF}"/>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3795494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9DA691C-40FF-4A77-96BD-468326AE4212}"/>
              </a:ext>
            </a:extLst>
          </p:cNvPr>
          <p:cNvSpPr>
            <a:spLocks noGrp="1"/>
          </p:cNvSpPr>
          <p:nvPr>
            <p:ph type="title"/>
          </p:nvPr>
        </p:nvSpPr>
        <p:spPr>
          <a:xfrm>
            <a:off x="839788" y="365125"/>
            <a:ext cx="10515600" cy="1325563"/>
          </a:xfrm>
        </p:spPr>
        <p:txBody>
          <a:bodyPr/>
          <a:lstStyle/>
          <a:p>
            <a:r>
              <a:rPr lang="de-DE"/>
              <a:t>Mastertitelformat bearbeiten</a:t>
            </a:r>
            <a:endParaRPr lang="en-US"/>
          </a:p>
        </p:txBody>
      </p:sp>
      <p:sp>
        <p:nvSpPr>
          <p:cNvPr id="3" name="Textplatzhalter 2">
            <a:extLst>
              <a:ext uri="{FF2B5EF4-FFF2-40B4-BE49-F238E27FC236}">
                <a16:creationId xmlns:a16="http://schemas.microsoft.com/office/drawing/2014/main" id="{3B534EEE-1BCD-4ECD-B9B1-3C7B6A7D16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565DC3DB-CE39-43C0-98BA-595CF73E00FE}"/>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5" name="Textplatzhalter 4">
            <a:extLst>
              <a:ext uri="{FF2B5EF4-FFF2-40B4-BE49-F238E27FC236}">
                <a16:creationId xmlns:a16="http://schemas.microsoft.com/office/drawing/2014/main" id="{382DA909-56D3-4C00-8BCE-A5D916F19C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01D7B85D-A330-4011-B154-BF55E5D50CE7}"/>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7" name="Datumsplatzhalter 6">
            <a:extLst>
              <a:ext uri="{FF2B5EF4-FFF2-40B4-BE49-F238E27FC236}">
                <a16:creationId xmlns:a16="http://schemas.microsoft.com/office/drawing/2014/main" id="{D3C5FA73-3333-4EC1-B504-08BF05193203}"/>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8" name="Fußzeilenplatzhalter 7">
            <a:extLst>
              <a:ext uri="{FF2B5EF4-FFF2-40B4-BE49-F238E27FC236}">
                <a16:creationId xmlns:a16="http://schemas.microsoft.com/office/drawing/2014/main" id="{FBC4EA0B-CFB8-4AC4-865D-26FBBD98F0E5}"/>
              </a:ext>
            </a:extLst>
          </p:cNvPr>
          <p:cNvSpPr>
            <a:spLocks noGrp="1"/>
          </p:cNvSpPr>
          <p:nvPr>
            <p:ph type="ftr" sz="quarter" idx="11"/>
          </p:nvPr>
        </p:nvSpPr>
        <p:spPr/>
        <p:txBody>
          <a:bodyPr/>
          <a:lstStyle/>
          <a:p>
            <a:endParaRPr lang="en-US"/>
          </a:p>
        </p:txBody>
      </p:sp>
      <p:sp>
        <p:nvSpPr>
          <p:cNvPr id="9" name="Foliennummernplatzhalter 8">
            <a:extLst>
              <a:ext uri="{FF2B5EF4-FFF2-40B4-BE49-F238E27FC236}">
                <a16:creationId xmlns:a16="http://schemas.microsoft.com/office/drawing/2014/main" id="{831FF62E-BD52-4D02-B094-E2120D65C024}"/>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1844749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23CBBD7-0DE3-4A4C-8343-F05B7EDD1FBA}"/>
              </a:ext>
            </a:extLst>
          </p:cNvPr>
          <p:cNvSpPr>
            <a:spLocks noGrp="1"/>
          </p:cNvSpPr>
          <p:nvPr>
            <p:ph type="title"/>
          </p:nvPr>
        </p:nvSpPr>
        <p:spPr/>
        <p:txBody>
          <a:bodyPr/>
          <a:lstStyle/>
          <a:p>
            <a:r>
              <a:rPr lang="de-DE"/>
              <a:t>Mastertitelformat bearbeiten</a:t>
            </a:r>
            <a:endParaRPr lang="en-US"/>
          </a:p>
        </p:txBody>
      </p:sp>
      <p:sp>
        <p:nvSpPr>
          <p:cNvPr id="3" name="Datumsplatzhalter 2">
            <a:extLst>
              <a:ext uri="{FF2B5EF4-FFF2-40B4-BE49-F238E27FC236}">
                <a16:creationId xmlns:a16="http://schemas.microsoft.com/office/drawing/2014/main" id="{F3E1C8AA-7124-4666-928E-9B599C2099AF}"/>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4" name="Fußzeilenplatzhalter 3">
            <a:extLst>
              <a:ext uri="{FF2B5EF4-FFF2-40B4-BE49-F238E27FC236}">
                <a16:creationId xmlns:a16="http://schemas.microsoft.com/office/drawing/2014/main" id="{C0042B35-4B89-4F22-9B5A-9237AE4B63D7}"/>
              </a:ext>
            </a:extLst>
          </p:cNvPr>
          <p:cNvSpPr>
            <a:spLocks noGrp="1"/>
          </p:cNvSpPr>
          <p:nvPr>
            <p:ph type="ftr" sz="quarter" idx="11"/>
          </p:nvPr>
        </p:nvSpPr>
        <p:spPr/>
        <p:txBody>
          <a:bodyPr/>
          <a:lstStyle/>
          <a:p>
            <a:endParaRPr lang="en-US"/>
          </a:p>
        </p:txBody>
      </p:sp>
      <p:sp>
        <p:nvSpPr>
          <p:cNvPr id="5" name="Foliennummernplatzhalter 4">
            <a:extLst>
              <a:ext uri="{FF2B5EF4-FFF2-40B4-BE49-F238E27FC236}">
                <a16:creationId xmlns:a16="http://schemas.microsoft.com/office/drawing/2014/main" id="{568FAB39-D2AC-45DD-A572-4C19B5C4B4A6}"/>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670539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3A49A899-0EC9-4658-B166-20EC6486DCFC}"/>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3" name="Fußzeilenplatzhalter 2">
            <a:extLst>
              <a:ext uri="{FF2B5EF4-FFF2-40B4-BE49-F238E27FC236}">
                <a16:creationId xmlns:a16="http://schemas.microsoft.com/office/drawing/2014/main" id="{3D5C4970-350D-4349-8CEA-E40F27C7AA1F}"/>
              </a:ext>
            </a:extLst>
          </p:cNvPr>
          <p:cNvSpPr>
            <a:spLocks noGrp="1"/>
          </p:cNvSpPr>
          <p:nvPr>
            <p:ph type="ftr" sz="quarter" idx="11"/>
          </p:nvPr>
        </p:nvSpPr>
        <p:spPr/>
        <p:txBody>
          <a:bodyPr/>
          <a:lstStyle/>
          <a:p>
            <a:endParaRPr lang="en-US"/>
          </a:p>
        </p:txBody>
      </p:sp>
      <p:sp>
        <p:nvSpPr>
          <p:cNvPr id="4" name="Foliennummernplatzhalter 3">
            <a:extLst>
              <a:ext uri="{FF2B5EF4-FFF2-40B4-BE49-F238E27FC236}">
                <a16:creationId xmlns:a16="http://schemas.microsoft.com/office/drawing/2014/main" id="{DCFD5CAD-BAE4-40CA-B7DF-4E9D28FFF58A}"/>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916183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CD26C9-ACA5-45F1-AD11-14FE935186E1}"/>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Inhaltsplatzhalter 2">
            <a:extLst>
              <a:ext uri="{FF2B5EF4-FFF2-40B4-BE49-F238E27FC236}">
                <a16:creationId xmlns:a16="http://schemas.microsoft.com/office/drawing/2014/main" id="{113446F8-C4BB-44D0-8DB1-8E860A11C42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Textplatzhalter 3">
            <a:extLst>
              <a:ext uri="{FF2B5EF4-FFF2-40B4-BE49-F238E27FC236}">
                <a16:creationId xmlns:a16="http://schemas.microsoft.com/office/drawing/2014/main" id="{9EAB9A1F-01EA-4103-9552-9D07FF898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89EAD87-CF12-4B66-A012-C8506824CD67}"/>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6" name="Fußzeilenplatzhalter 5">
            <a:extLst>
              <a:ext uri="{FF2B5EF4-FFF2-40B4-BE49-F238E27FC236}">
                <a16:creationId xmlns:a16="http://schemas.microsoft.com/office/drawing/2014/main" id="{B9EDAE0F-ED04-4483-9E9C-B359EC2F0FAD}"/>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3B7365E8-989A-45A1-8C60-F61A55BE07B8}"/>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3541693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174CE8-BD63-489F-938F-0142F26CD25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US"/>
          </a:p>
        </p:txBody>
      </p:sp>
      <p:sp>
        <p:nvSpPr>
          <p:cNvPr id="3" name="Bildplatzhalter 2">
            <a:extLst>
              <a:ext uri="{FF2B5EF4-FFF2-40B4-BE49-F238E27FC236}">
                <a16:creationId xmlns:a16="http://schemas.microsoft.com/office/drawing/2014/main" id="{A59D1909-9415-4B2B-BDE6-2CA41608BB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a:extLst>
              <a:ext uri="{FF2B5EF4-FFF2-40B4-BE49-F238E27FC236}">
                <a16:creationId xmlns:a16="http://schemas.microsoft.com/office/drawing/2014/main" id="{C9B2AAF8-F432-48A0-A921-FBCC927FD6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6ABB75E-588D-4333-83A9-C52864F793C7}"/>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6" name="Fußzeilenplatzhalter 5">
            <a:extLst>
              <a:ext uri="{FF2B5EF4-FFF2-40B4-BE49-F238E27FC236}">
                <a16:creationId xmlns:a16="http://schemas.microsoft.com/office/drawing/2014/main" id="{2A1E97F5-2CFD-437E-9B42-DD1A9947159B}"/>
              </a:ext>
            </a:extLst>
          </p:cNvPr>
          <p:cNvSpPr>
            <a:spLocks noGrp="1"/>
          </p:cNvSpPr>
          <p:nvPr>
            <p:ph type="ftr" sz="quarter" idx="11"/>
          </p:nvPr>
        </p:nvSpPr>
        <p:spPr/>
        <p:txBody>
          <a:bodyPr/>
          <a:lstStyle/>
          <a:p>
            <a:endParaRPr lang="en-US"/>
          </a:p>
        </p:txBody>
      </p:sp>
      <p:sp>
        <p:nvSpPr>
          <p:cNvPr id="7" name="Foliennummernplatzhalter 6">
            <a:extLst>
              <a:ext uri="{FF2B5EF4-FFF2-40B4-BE49-F238E27FC236}">
                <a16:creationId xmlns:a16="http://schemas.microsoft.com/office/drawing/2014/main" id="{4DA96240-F333-47F4-B45D-907F21A9116C}"/>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2699428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C157A7-14CF-4BCF-A63F-5AF06702419E}"/>
              </a:ext>
            </a:extLst>
          </p:cNvPr>
          <p:cNvSpPr>
            <a:spLocks noGrp="1"/>
          </p:cNvSpPr>
          <p:nvPr>
            <p:ph type="title"/>
          </p:nvPr>
        </p:nvSpPr>
        <p:spPr/>
        <p:txBody>
          <a:bodyPr/>
          <a:lstStyle/>
          <a:p>
            <a:r>
              <a:rPr lang="de-DE"/>
              <a:t>Mastertitelformat bearbeiten</a:t>
            </a:r>
            <a:endParaRPr lang="en-US"/>
          </a:p>
        </p:txBody>
      </p:sp>
      <p:sp>
        <p:nvSpPr>
          <p:cNvPr id="3" name="Vertikaler Textplatzhalter 2">
            <a:extLst>
              <a:ext uri="{FF2B5EF4-FFF2-40B4-BE49-F238E27FC236}">
                <a16:creationId xmlns:a16="http://schemas.microsoft.com/office/drawing/2014/main" id="{FD362701-3D57-42F1-8E6B-DBC250F3758C}"/>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3BFEFAF1-0235-4A17-9407-6F2A0F86B531}"/>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5" name="Fußzeilenplatzhalter 4">
            <a:extLst>
              <a:ext uri="{FF2B5EF4-FFF2-40B4-BE49-F238E27FC236}">
                <a16:creationId xmlns:a16="http://schemas.microsoft.com/office/drawing/2014/main" id="{610ACC88-4EFD-4752-B92E-1D6DDDB8B316}"/>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1E1219E0-C17D-438C-8DA2-8EDAE2AB9F87}"/>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22531109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10D4840-00BF-46CA-B990-EEF76C78E608}"/>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US"/>
          </a:p>
        </p:txBody>
      </p:sp>
      <p:sp>
        <p:nvSpPr>
          <p:cNvPr id="3" name="Vertikaler Textplatzhalter 2">
            <a:extLst>
              <a:ext uri="{FF2B5EF4-FFF2-40B4-BE49-F238E27FC236}">
                <a16:creationId xmlns:a16="http://schemas.microsoft.com/office/drawing/2014/main" id="{6A701ECD-F327-420F-9732-2A799827BF91}"/>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6D329E1F-25BE-45EC-AE73-07E32AE6C069}"/>
              </a:ext>
            </a:extLst>
          </p:cNvPr>
          <p:cNvSpPr>
            <a:spLocks noGrp="1"/>
          </p:cNvSpPr>
          <p:nvPr>
            <p:ph type="dt" sz="half" idx="10"/>
          </p:nvPr>
        </p:nvSpPr>
        <p:spPr/>
        <p:txBody>
          <a:bodyPr/>
          <a:lstStyle/>
          <a:p>
            <a:fld id="{C2F25AF2-2985-4767-A704-666ECDEC142E}" type="datetimeFigureOut">
              <a:rPr lang="en-US" smtClean="0"/>
              <a:t>7/29/2025</a:t>
            </a:fld>
            <a:endParaRPr lang="en-US"/>
          </a:p>
        </p:txBody>
      </p:sp>
      <p:sp>
        <p:nvSpPr>
          <p:cNvPr id="5" name="Fußzeilenplatzhalter 4">
            <a:extLst>
              <a:ext uri="{FF2B5EF4-FFF2-40B4-BE49-F238E27FC236}">
                <a16:creationId xmlns:a16="http://schemas.microsoft.com/office/drawing/2014/main" id="{5EC66D23-BBF5-42FE-A958-C22FB661AEB7}"/>
              </a:ext>
            </a:extLst>
          </p:cNvPr>
          <p:cNvSpPr>
            <a:spLocks noGrp="1"/>
          </p:cNvSpPr>
          <p:nvPr>
            <p:ph type="ftr" sz="quarter" idx="11"/>
          </p:nvPr>
        </p:nvSpPr>
        <p:spPr/>
        <p:txBody>
          <a:bodyPr/>
          <a:lstStyle/>
          <a:p>
            <a:endParaRPr lang="en-US"/>
          </a:p>
        </p:txBody>
      </p:sp>
      <p:sp>
        <p:nvSpPr>
          <p:cNvPr id="6" name="Foliennummernplatzhalter 5">
            <a:extLst>
              <a:ext uri="{FF2B5EF4-FFF2-40B4-BE49-F238E27FC236}">
                <a16:creationId xmlns:a16="http://schemas.microsoft.com/office/drawing/2014/main" id="{D61981A3-F9B8-42DB-B192-B40318593587}"/>
              </a:ext>
            </a:extLst>
          </p:cNvPr>
          <p:cNvSpPr>
            <a:spLocks noGrp="1"/>
          </p:cNvSpPr>
          <p:nvPr>
            <p:ph type="sldNum" sz="quarter" idx="12"/>
          </p:nvPr>
        </p:nvSpPr>
        <p:spPr/>
        <p:txBody>
          <a:bodyPr/>
          <a:lstStyle/>
          <a:p>
            <a:fld id="{854BFE37-A3E1-43B7-8958-5CB0279D14DF}" type="slidenum">
              <a:rPr lang="en-US" smtClean="0"/>
              <a:t>‹Nr.›</a:t>
            </a:fld>
            <a:endParaRPr lang="en-US"/>
          </a:p>
        </p:txBody>
      </p:sp>
    </p:spTree>
    <p:extLst>
      <p:ext uri="{BB962C8B-B14F-4D97-AF65-F5344CB8AC3E}">
        <p14:creationId xmlns:p14="http://schemas.microsoft.com/office/powerpoint/2010/main" val="3782372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328606CD-47A0-430D-98C9-8FD53714F8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US"/>
          </a:p>
        </p:txBody>
      </p:sp>
      <p:sp>
        <p:nvSpPr>
          <p:cNvPr id="3" name="Textplatzhalter 2">
            <a:extLst>
              <a:ext uri="{FF2B5EF4-FFF2-40B4-BE49-F238E27FC236}">
                <a16:creationId xmlns:a16="http://schemas.microsoft.com/office/drawing/2014/main" id="{44BDE29A-6FB6-48F3-B707-901DC5B7EF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4" name="Datumsplatzhalter 3">
            <a:extLst>
              <a:ext uri="{FF2B5EF4-FFF2-40B4-BE49-F238E27FC236}">
                <a16:creationId xmlns:a16="http://schemas.microsoft.com/office/drawing/2014/main" id="{431F0236-6897-4867-91F7-4877506AC3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F25AF2-2985-4767-A704-666ECDEC142E}" type="datetimeFigureOut">
              <a:rPr lang="en-US" smtClean="0"/>
              <a:t>7/29/2025</a:t>
            </a:fld>
            <a:endParaRPr lang="en-US"/>
          </a:p>
        </p:txBody>
      </p:sp>
      <p:sp>
        <p:nvSpPr>
          <p:cNvPr id="5" name="Fußzeilenplatzhalter 4">
            <a:extLst>
              <a:ext uri="{FF2B5EF4-FFF2-40B4-BE49-F238E27FC236}">
                <a16:creationId xmlns:a16="http://schemas.microsoft.com/office/drawing/2014/main" id="{A072E653-CD46-43CE-9A4D-C1125D1506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Foliennummernplatzhalter 5">
            <a:extLst>
              <a:ext uri="{FF2B5EF4-FFF2-40B4-BE49-F238E27FC236}">
                <a16:creationId xmlns:a16="http://schemas.microsoft.com/office/drawing/2014/main" id="{E62A354F-8C11-433E-9F47-CD704C35EF1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4BFE37-A3E1-43B7-8958-5CB0279D14DF}" type="slidenum">
              <a:rPr lang="en-US" smtClean="0"/>
              <a:t>‹Nr.›</a:t>
            </a:fld>
            <a:endParaRPr lang="en-US"/>
          </a:p>
        </p:txBody>
      </p:sp>
    </p:spTree>
    <p:extLst>
      <p:ext uri="{BB962C8B-B14F-4D97-AF65-F5344CB8AC3E}">
        <p14:creationId xmlns:p14="http://schemas.microsoft.com/office/powerpoint/2010/main" val="22304100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10.sv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FBEF481-7F8C-4EAA-8946-F8AFCA9D0379}"/>
              </a:ext>
            </a:extLst>
          </p:cNvPr>
          <p:cNvSpPr>
            <a:spLocks noGrp="1"/>
          </p:cNvSpPr>
          <p:nvPr>
            <p:ph type="title"/>
          </p:nvPr>
        </p:nvSpPr>
        <p:spPr/>
        <p:txBody>
          <a:bodyPr/>
          <a:lstStyle/>
          <a:p>
            <a:r>
              <a:rPr lang="en-US" dirty="0"/>
              <a:t>Study flow within ESTA</a:t>
            </a:r>
          </a:p>
        </p:txBody>
      </p:sp>
      <p:sp>
        <p:nvSpPr>
          <p:cNvPr id="3" name="Inhaltsplatzhalter 2">
            <a:extLst>
              <a:ext uri="{FF2B5EF4-FFF2-40B4-BE49-F238E27FC236}">
                <a16:creationId xmlns:a16="http://schemas.microsoft.com/office/drawing/2014/main" id="{7B105D3F-8B32-4413-BD8C-4513C027B43E}"/>
              </a:ext>
            </a:extLst>
          </p:cNvPr>
          <p:cNvSpPr>
            <a:spLocks noGrp="1"/>
          </p:cNvSpPr>
          <p:nvPr>
            <p:ph idx="1"/>
          </p:nvPr>
        </p:nvSpPr>
        <p:spPr/>
        <p:txBody>
          <a:bodyPr>
            <a:normAutofit fontScale="77500" lnSpcReduction="20000"/>
          </a:bodyPr>
          <a:lstStyle/>
          <a:p>
            <a:r>
              <a:rPr lang="en-US" b="1" dirty="0"/>
              <a:t>Step 1: Introduction to Ethical Theories</a:t>
            </a:r>
          </a:p>
          <a:p>
            <a:pPr lvl="1"/>
            <a:r>
              <a:rPr lang="en-US" dirty="0"/>
              <a:t>Participants were introduced to the ethical theories, which were framed as structured criteria for evaluating the moral acceptability of technologies—based on fairness, justice, and morality, similar to everyday moral judgments.</a:t>
            </a:r>
          </a:p>
          <a:p>
            <a:endParaRPr lang="en-US" dirty="0"/>
          </a:p>
          <a:p>
            <a:r>
              <a:rPr lang="en-US" b="1" dirty="0"/>
              <a:t>Step 2: Accessible Definitions Provided</a:t>
            </a:r>
          </a:p>
          <a:p>
            <a:pPr lvl="1"/>
            <a:r>
              <a:rPr lang="en-US" dirty="0"/>
              <a:t>Each ethical theory was explained in clear and relatable terms using non-technical, layperson-friendly definitions. </a:t>
            </a:r>
          </a:p>
          <a:p>
            <a:pPr lvl="2"/>
            <a:r>
              <a:rPr lang="en-US" dirty="0"/>
              <a:t>Example: Deontology focused on whether a technology respects fundamental duties or principles, while Utilitarianism emphasized the overall impact on societal well-being.</a:t>
            </a:r>
          </a:p>
          <a:p>
            <a:endParaRPr lang="en-US" dirty="0"/>
          </a:p>
          <a:p>
            <a:r>
              <a:rPr lang="en-US" b="1" dirty="0"/>
              <a:t>Step 3: Response to ESTA Items</a:t>
            </a:r>
          </a:p>
          <a:p>
            <a:pPr lvl="1"/>
            <a:r>
              <a:rPr lang="en-US" dirty="0"/>
              <a:t>After reviewing the definitions, participants responded to ESTA items associated with each ethical theory (see Appendix D for task illustration).</a:t>
            </a:r>
          </a:p>
          <a:p>
            <a:pPr lvl="1"/>
            <a:endParaRPr lang="en-US" dirty="0"/>
          </a:p>
          <a:p>
            <a:pPr marL="457200" lvl="1" indent="0">
              <a:buNone/>
            </a:pPr>
            <a:r>
              <a:rPr lang="en-US" i="1" dirty="0"/>
              <a:t>Remark: the respective ethical theories for step 2 are highlighted in green; items are not shown here</a:t>
            </a:r>
          </a:p>
        </p:txBody>
      </p:sp>
    </p:spTree>
    <p:extLst>
      <p:ext uri="{BB962C8B-B14F-4D97-AF65-F5344CB8AC3E}">
        <p14:creationId xmlns:p14="http://schemas.microsoft.com/office/powerpoint/2010/main" val="3868544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48DFF8-4D82-4049-8D65-232D05994D77}"/>
              </a:ext>
            </a:extLst>
          </p:cNvPr>
          <p:cNvSpPr>
            <a:spLocks noGrp="1"/>
          </p:cNvSpPr>
          <p:nvPr>
            <p:ph type="title"/>
          </p:nvPr>
        </p:nvSpPr>
        <p:spPr/>
        <p:txBody>
          <a:bodyPr/>
          <a:lstStyle/>
          <a:p>
            <a:r>
              <a:rPr lang="en-US" dirty="0">
                <a:highlight>
                  <a:srgbClr val="00FF00"/>
                </a:highlight>
              </a:rPr>
              <a:t>Introduction to Ethical Theories</a:t>
            </a:r>
          </a:p>
        </p:txBody>
      </p:sp>
      <p:sp>
        <p:nvSpPr>
          <p:cNvPr id="3" name="Inhaltsplatzhalter 2">
            <a:extLst>
              <a:ext uri="{FF2B5EF4-FFF2-40B4-BE49-F238E27FC236}">
                <a16:creationId xmlns:a16="http://schemas.microsoft.com/office/drawing/2014/main" id="{FB0CF748-B3A9-44C8-9A73-59B8E6F6C2D8}"/>
              </a:ext>
            </a:extLst>
          </p:cNvPr>
          <p:cNvSpPr>
            <a:spLocks noGrp="1"/>
          </p:cNvSpPr>
          <p:nvPr>
            <p:ph idx="1"/>
          </p:nvPr>
        </p:nvSpPr>
        <p:spPr/>
        <p:txBody>
          <a:bodyPr>
            <a:normAutofit fontScale="70000" lnSpcReduction="20000"/>
          </a:bodyPr>
          <a:lstStyle/>
          <a:p>
            <a:pPr marL="0" indent="0">
              <a:buNone/>
            </a:pPr>
            <a:endParaRPr lang="en-US" dirty="0"/>
          </a:p>
          <a:p>
            <a:pPr marL="0" indent="0">
              <a:buNone/>
            </a:pPr>
            <a:r>
              <a:rPr lang="en-US" b="1" dirty="0"/>
              <a:t>Please answer the questions that follow from the perspective of each theory</a:t>
            </a:r>
          </a:p>
          <a:p>
            <a:pPr marL="0" indent="0">
              <a:buNone/>
            </a:pPr>
            <a:r>
              <a:rPr lang="en-US" dirty="0"/>
              <a:t>Our lives are full of binding norms of action, such as that we as humans should not kill other people, cause them pain or suffering, or not rescue people who are in danger. When such norms are violated, we often have a “gut feeling,” for example, we feel revulsion when we see pictures of people suffering.</a:t>
            </a:r>
          </a:p>
          <a:p>
            <a:pPr marL="0" indent="0">
              <a:buNone/>
            </a:pPr>
            <a:endParaRPr lang="en-US" dirty="0"/>
          </a:p>
          <a:p>
            <a:pPr marL="0" indent="0">
              <a:buNone/>
            </a:pPr>
            <a:r>
              <a:rPr lang="en-US" dirty="0"/>
              <a:t>Similarly, we often instinctively feel that a particular technology is “fair,” “just,” or “morally right.” The central question now is: According to which criteria do we make such judgments? In philosophy, there are so-called ethical theories that attempt to provide a clear idea of how we should morally evaluate a technology. Using different ethical theories to make ethical judgments about a technology illuminates our thinking and presents different perspectives on technologies.</a:t>
            </a:r>
          </a:p>
          <a:p>
            <a:pPr marL="0" indent="0">
              <a:buNone/>
            </a:pPr>
            <a:endParaRPr lang="en-US" dirty="0"/>
          </a:p>
          <a:p>
            <a:pPr marL="0" indent="0">
              <a:buNone/>
            </a:pPr>
            <a:r>
              <a:rPr lang="en-US" dirty="0"/>
              <a:t>In the following we briefly introduce the ethical theories and ask you to read them as carefully as possible. Then we would like you to </a:t>
            </a:r>
            <a:r>
              <a:rPr lang="en-US" b="1" dirty="0"/>
              <a:t>answer the questions that follow from the perspective of each theory</a:t>
            </a:r>
            <a:r>
              <a:rPr lang="en-US" dirty="0"/>
              <a:t>.</a:t>
            </a:r>
          </a:p>
          <a:p>
            <a:pPr marL="0" indent="0">
              <a:buNone/>
            </a:pPr>
            <a:endParaRPr lang="en-US" dirty="0"/>
          </a:p>
        </p:txBody>
      </p:sp>
    </p:spTree>
    <p:extLst>
      <p:ext uri="{BB962C8B-B14F-4D97-AF65-F5344CB8AC3E}">
        <p14:creationId xmlns:p14="http://schemas.microsoft.com/office/powerpoint/2010/main" val="169364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572223-9AD2-47C7-A51E-749B630FDC33}"/>
              </a:ext>
            </a:extLst>
          </p:cNvPr>
          <p:cNvSpPr>
            <a:spLocks noGrp="1"/>
          </p:cNvSpPr>
          <p:nvPr>
            <p:ph type="title"/>
          </p:nvPr>
        </p:nvSpPr>
        <p:spPr>
          <a:xfrm>
            <a:off x="838200" y="170916"/>
            <a:ext cx="10515600" cy="881049"/>
          </a:xfrm>
        </p:spPr>
        <p:txBody>
          <a:bodyPr/>
          <a:lstStyle/>
          <a:p>
            <a:r>
              <a:rPr lang="en-US" i="1" dirty="0">
                <a:highlight>
                  <a:srgbClr val="00FF00"/>
                </a:highlight>
              </a:rPr>
              <a:t>Deontology: Layperson-friendly definition</a:t>
            </a:r>
            <a:endParaRPr lang="en-US" dirty="0">
              <a:highlight>
                <a:srgbClr val="00FF00"/>
              </a:highlight>
            </a:endParaRPr>
          </a:p>
        </p:txBody>
      </p:sp>
      <p:sp>
        <p:nvSpPr>
          <p:cNvPr id="3" name="Inhaltsplatzhalter 2">
            <a:extLst>
              <a:ext uri="{FF2B5EF4-FFF2-40B4-BE49-F238E27FC236}">
                <a16:creationId xmlns:a16="http://schemas.microsoft.com/office/drawing/2014/main" id="{B1A728BB-0B73-4EC0-AFD4-29B357C13B8D}"/>
              </a:ext>
            </a:extLst>
          </p:cNvPr>
          <p:cNvSpPr>
            <a:spLocks noGrp="1"/>
          </p:cNvSpPr>
          <p:nvPr>
            <p:ph idx="1"/>
          </p:nvPr>
        </p:nvSpPr>
        <p:spPr>
          <a:xfrm>
            <a:off x="838200" y="1038081"/>
            <a:ext cx="10515600" cy="1298112"/>
          </a:xfrm>
        </p:spPr>
        <p:txBody>
          <a:bodyPr>
            <a:normAutofit fontScale="85000" lnSpcReduction="10000"/>
          </a:bodyPr>
          <a:lstStyle/>
          <a:p>
            <a:pPr marL="0" indent="0">
              <a:buNone/>
            </a:pPr>
            <a:r>
              <a:rPr lang="en-US" b="1" dirty="0"/>
              <a:t>In the following we want to ask you to evaluate the "XXX" technology regarding the to see whether it violates central principles or duties</a:t>
            </a:r>
          </a:p>
          <a:p>
            <a:pPr marL="0" indent="0">
              <a:buNone/>
            </a:pPr>
            <a:r>
              <a:rPr lang="en-US" i="1" dirty="0"/>
              <a:t>Deontology</a:t>
            </a:r>
            <a:r>
              <a:rPr lang="en-US" dirty="0"/>
              <a:t> is concerned with the possible violation of central principles or duties: </a:t>
            </a:r>
          </a:p>
        </p:txBody>
      </p:sp>
      <p:sp>
        <p:nvSpPr>
          <p:cNvPr id="6" name="Textfeld 5">
            <a:extLst>
              <a:ext uri="{FF2B5EF4-FFF2-40B4-BE49-F238E27FC236}">
                <a16:creationId xmlns:a16="http://schemas.microsoft.com/office/drawing/2014/main" id="{28CCC3AD-24F7-4A1C-A7FC-160F830BFC4D}"/>
              </a:ext>
            </a:extLst>
          </p:cNvPr>
          <p:cNvSpPr txBox="1"/>
          <p:nvPr/>
        </p:nvSpPr>
        <p:spPr>
          <a:xfrm>
            <a:off x="466176" y="3105834"/>
            <a:ext cx="2345707" cy="646331"/>
          </a:xfrm>
          <a:prstGeom prst="rect">
            <a:avLst/>
          </a:prstGeom>
          <a:noFill/>
        </p:spPr>
        <p:txBody>
          <a:bodyPr wrap="none" rtlCol="0">
            <a:spAutoFit/>
          </a:bodyPr>
          <a:lstStyle/>
          <a:p>
            <a:r>
              <a:rPr lang="de-DE" sz="3600" b="1" dirty="0"/>
              <a:t>Technology</a:t>
            </a:r>
            <a:endParaRPr lang="en-US" sz="3600" b="1" dirty="0"/>
          </a:p>
        </p:txBody>
      </p:sp>
      <p:sp>
        <p:nvSpPr>
          <p:cNvPr id="7" name="Pfeil: nach rechts 6">
            <a:extLst>
              <a:ext uri="{FF2B5EF4-FFF2-40B4-BE49-F238E27FC236}">
                <a16:creationId xmlns:a16="http://schemas.microsoft.com/office/drawing/2014/main" id="{F3B7A13C-07C6-412A-A551-DA7411A0D5AB}"/>
              </a:ext>
            </a:extLst>
          </p:cNvPr>
          <p:cNvSpPr/>
          <p:nvPr/>
        </p:nvSpPr>
        <p:spPr>
          <a:xfrm>
            <a:off x="2916520" y="2838616"/>
            <a:ext cx="2908492"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is morally acceptable if</a:t>
            </a:r>
          </a:p>
        </p:txBody>
      </p:sp>
      <p:sp>
        <p:nvSpPr>
          <p:cNvPr id="8" name="Textfeld 7">
            <a:extLst>
              <a:ext uri="{FF2B5EF4-FFF2-40B4-BE49-F238E27FC236}">
                <a16:creationId xmlns:a16="http://schemas.microsoft.com/office/drawing/2014/main" id="{DC69E55E-424D-4EA3-B6FD-D54F7CFC92C6}"/>
              </a:ext>
            </a:extLst>
          </p:cNvPr>
          <p:cNvSpPr txBox="1"/>
          <p:nvPr/>
        </p:nvSpPr>
        <p:spPr>
          <a:xfrm>
            <a:off x="9397093" y="4153539"/>
            <a:ext cx="2690160" cy="1569660"/>
          </a:xfrm>
          <a:prstGeom prst="rect">
            <a:avLst/>
          </a:prstGeom>
          <a:noFill/>
        </p:spPr>
        <p:txBody>
          <a:bodyPr wrap="none" rtlCol="0">
            <a:spAutoFit/>
          </a:bodyPr>
          <a:lstStyle/>
          <a:p>
            <a:r>
              <a:rPr lang="en-US" sz="3200" b="1" dirty="0"/>
              <a:t>by you as an </a:t>
            </a:r>
          </a:p>
          <a:p>
            <a:r>
              <a:rPr lang="en-US" sz="3200" b="1" dirty="0"/>
              <a:t>individual and </a:t>
            </a:r>
          </a:p>
          <a:p>
            <a:r>
              <a:rPr lang="en-US" sz="3200" b="1" dirty="0"/>
              <a:t>by society</a:t>
            </a:r>
          </a:p>
        </p:txBody>
      </p:sp>
      <p:pic>
        <p:nvPicPr>
          <p:cNvPr id="9" name="Grafik 8" descr="Benutzer">
            <a:extLst>
              <a:ext uri="{FF2B5EF4-FFF2-40B4-BE49-F238E27FC236}">
                <a16:creationId xmlns:a16="http://schemas.microsoft.com/office/drawing/2014/main" id="{7E9E80D5-1B22-4E35-A426-3D9EDCB6F7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40216" y="2336193"/>
            <a:ext cx="2185608" cy="2185608"/>
          </a:xfrm>
          <a:prstGeom prst="rect">
            <a:avLst/>
          </a:prstGeom>
        </p:spPr>
      </p:pic>
      <p:sp>
        <p:nvSpPr>
          <p:cNvPr id="10" name="Rechteck: abgerundete Ecken 9">
            <a:extLst>
              <a:ext uri="{FF2B5EF4-FFF2-40B4-BE49-F238E27FC236}">
                <a16:creationId xmlns:a16="http://schemas.microsoft.com/office/drawing/2014/main" id="{4B631714-B7DE-439A-9C20-14109D18DD2D}"/>
              </a:ext>
            </a:extLst>
          </p:cNvPr>
          <p:cNvSpPr/>
          <p:nvPr/>
        </p:nvSpPr>
        <p:spPr>
          <a:xfrm>
            <a:off x="6013418" y="2237547"/>
            <a:ext cx="2347929" cy="238290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it</a:t>
            </a:r>
            <a:r>
              <a:rPr lang="de-DE" sz="2400" dirty="0"/>
              <a:t> </a:t>
            </a:r>
            <a:r>
              <a:rPr lang="en-US" sz="2400" dirty="0"/>
              <a:t>respects central principles and duties, which are</a:t>
            </a:r>
          </a:p>
        </p:txBody>
      </p:sp>
      <p:sp>
        <p:nvSpPr>
          <p:cNvPr id="11" name="Pfeil: nach rechts 10">
            <a:extLst>
              <a:ext uri="{FF2B5EF4-FFF2-40B4-BE49-F238E27FC236}">
                <a16:creationId xmlns:a16="http://schemas.microsoft.com/office/drawing/2014/main" id="{6B8DAC57-943E-4A10-8D74-3B620C7D15A5}"/>
              </a:ext>
            </a:extLst>
          </p:cNvPr>
          <p:cNvSpPr/>
          <p:nvPr/>
        </p:nvSpPr>
        <p:spPr>
          <a:xfrm>
            <a:off x="8614107" y="2838616"/>
            <a:ext cx="1093593"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held up</a:t>
            </a:r>
          </a:p>
        </p:txBody>
      </p:sp>
      <p:sp>
        <p:nvSpPr>
          <p:cNvPr id="12" name="Inhaltsplatzhalter 2">
            <a:extLst>
              <a:ext uri="{FF2B5EF4-FFF2-40B4-BE49-F238E27FC236}">
                <a16:creationId xmlns:a16="http://schemas.microsoft.com/office/drawing/2014/main" id="{B059FEE9-032E-42EF-B7CA-BCC5A306996C}"/>
              </a:ext>
            </a:extLst>
          </p:cNvPr>
          <p:cNvSpPr txBox="1">
            <a:spLocks/>
          </p:cNvSpPr>
          <p:nvPr/>
        </p:nvSpPr>
        <p:spPr>
          <a:xfrm>
            <a:off x="838200" y="5690091"/>
            <a:ext cx="10515600" cy="1074851"/>
          </a:xfrm>
          <a:prstGeom prst="rect">
            <a:avLst/>
          </a:prstGeom>
          <a:ln>
            <a:solidFill>
              <a:schemeClr val="tx1"/>
            </a:solidFill>
            <a:prstDash val="dash"/>
          </a:ln>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technology is morally acceptable if it respects basic principles and duties. These basic principles are held up by you as a free and rational person. Your principles are oriented by the guiding statement: "You should act the way you want others to act". When interacting with the technology, upholding your principles is of central importance, not the potential outcomes and consequences of your actions.</a:t>
            </a:r>
          </a:p>
        </p:txBody>
      </p:sp>
    </p:spTree>
    <p:extLst>
      <p:ext uri="{BB962C8B-B14F-4D97-AF65-F5344CB8AC3E}">
        <p14:creationId xmlns:p14="http://schemas.microsoft.com/office/powerpoint/2010/main" val="333830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572223-9AD2-47C7-A51E-749B630FDC33}"/>
              </a:ext>
            </a:extLst>
          </p:cNvPr>
          <p:cNvSpPr>
            <a:spLocks noGrp="1"/>
          </p:cNvSpPr>
          <p:nvPr>
            <p:ph type="title"/>
          </p:nvPr>
        </p:nvSpPr>
        <p:spPr>
          <a:xfrm>
            <a:off x="838200" y="170916"/>
            <a:ext cx="10515600" cy="881049"/>
          </a:xfrm>
        </p:spPr>
        <p:txBody>
          <a:bodyPr/>
          <a:lstStyle/>
          <a:p>
            <a:r>
              <a:rPr lang="en-US" dirty="0">
                <a:highlight>
                  <a:srgbClr val="00FF00"/>
                </a:highlight>
              </a:rPr>
              <a:t>Utilitarianism</a:t>
            </a:r>
            <a:r>
              <a:rPr lang="en-US" i="1" dirty="0">
                <a:highlight>
                  <a:srgbClr val="00FF00"/>
                </a:highlight>
              </a:rPr>
              <a:t>: Layperson-friendly definition</a:t>
            </a:r>
            <a:endParaRPr lang="en-US" dirty="0">
              <a:highlight>
                <a:srgbClr val="00FF00"/>
              </a:highlight>
            </a:endParaRPr>
          </a:p>
        </p:txBody>
      </p:sp>
      <p:sp>
        <p:nvSpPr>
          <p:cNvPr id="3" name="Inhaltsplatzhalter 2">
            <a:extLst>
              <a:ext uri="{FF2B5EF4-FFF2-40B4-BE49-F238E27FC236}">
                <a16:creationId xmlns:a16="http://schemas.microsoft.com/office/drawing/2014/main" id="{B1A728BB-0B73-4EC0-AFD4-29B357C13B8D}"/>
              </a:ext>
            </a:extLst>
          </p:cNvPr>
          <p:cNvSpPr>
            <a:spLocks noGrp="1"/>
          </p:cNvSpPr>
          <p:nvPr>
            <p:ph idx="1"/>
          </p:nvPr>
        </p:nvSpPr>
        <p:spPr>
          <a:xfrm>
            <a:off x="838200" y="1038081"/>
            <a:ext cx="10515600" cy="1298112"/>
          </a:xfrm>
        </p:spPr>
        <p:txBody>
          <a:bodyPr>
            <a:normAutofit lnSpcReduction="10000"/>
          </a:bodyPr>
          <a:lstStyle/>
          <a:p>
            <a:pPr marL="0" indent="0">
              <a:buNone/>
            </a:pPr>
            <a:r>
              <a:rPr lang="en-US" b="1" dirty="0"/>
              <a:t>In the following we want to ask you to evaluate the "XXX" technology regarding the regarding its consequences on society </a:t>
            </a:r>
          </a:p>
          <a:p>
            <a:pPr marL="0" indent="0">
              <a:buNone/>
            </a:pPr>
            <a:r>
              <a:rPr lang="en-US" i="1" dirty="0"/>
              <a:t>Utilitarianism</a:t>
            </a:r>
            <a:r>
              <a:rPr lang="en-US" dirty="0"/>
              <a:t> is concerned with the consequences for society:</a:t>
            </a:r>
          </a:p>
        </p:txBody>
      </p:sp>
      <p:sp>
        <p:nvSpPr>
          <p:cNvPr id="12" name="Inhaltsplatzhalter 2">
            <a:extLst>
              <a:ext uri="{FF2B5EF4-FFF2-40B4-BE49-F238E27FC236}">
                <a16:creationId xmlns:a16="http://schemas.microsoft.com/office/drawing/2014/main" id="{B059FEE9-032E-42EF-B7CA-BCC5A306996C}"/>
              </a:ext>
            </a:extLst>
          </p:cNvPr>
          <p:cNvSpPr txBox="1">
            <a:spLocks/>
          </p:cNvSpPr>
          <p:nvPr/>
        </p:nvSpPr>
        <p:spPr>
          <a:xfrm>
            <a:off x="838200" y="5690091"/>
            <a:ext cx="10515600" cy="1074851"/>
          </a:xfrm>
          <a:prstGeom prst="rect">
            <a:avLst/>
          </a:prstGeom>
          <a:ln>
            <a:solidFill>
              <a:schemeClr val="tx1"/>
            </a:solidFill>
            <a:prstDash val="dash"/>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technology is morally acceptable if it leads to the best outcomes and consequences for society. By interacting with the technology, society aims to maximize overall benefit by increasing utility, decreasing harm or leading to a better world.</a:t>
            </a:r>
          </a:p>
        </p:txBody>
      </p:sp>
      <p:pic>
        <p:nvPicPr>
          <p:cNvPr id="31" name="Grafik 30" descr="Benutzer">
            <a:extLst>
              <a:ext uri="{FF2B5EF4-FFF2-40B4-BE49-F238E27FC236}">
                <a16:creationId xmlns:a16="http://schemas.microsoft.com/office/drawing/2014/main" id="{36383A9B-B3CA-4E20-8E61-40BE12A422D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308895" y="2277033"/>
            <a:ext cx="2789448" cy="2789448"/>
          </a:xfrm>
          <a:prstGeom prst="rect">
            <a:avLst/>
          </a:prstGeom>
        </p:spPr>
      </p:pic>
      <p:sp>
        <p:nvSpPr>
          <p:cNvPr id="32" name="Textfeld 31">
            <a:extLst>
              <a:ext uri="{FF2B5EF4-FFF2-40B4-BE49-F238E27FC236}">
                <a16:creationId xmlns:a16="http://schemas.microsoft.com/office/drawing/2014/main" id="{1AB239DD-4F8D-4A63-A538-63AB85EAB9BD}"/>
              </a:ext>
            </a:extLst>
          </p:cNvPr>
          <p:cNvSpPr txBox="1"/>
          <p:nvPr/>
        </p:nvSpPr>
        <p:spPr>
          <a:xfrm>
            <a:off x="204763" y="3348594"/>
            <a:ext cx="2345707" cy="646331"/>
          </a:xfrm>
          <a:prstGeom prst="rect">
            <a:avLst/>
          </a:prstGeom>
          <a:noFill/>
        </p:spPr>
        <p:txBody>
          <a:bodyPr wrap="none" rtlCol="0">
            <a:spAutoFit/>
          </a:bodyPr>
          <a:lstStyle/>
          <a:p>
            <a:r>
              <a:rPr lang="de-DE" sz="3600" b="1" dirty="0"/>
              <a:t>Technology</a:t>
            </a:r>
            <a:endParaRPr lang="en-US" sz="3600" b="1" dirty="0"/>
          </a:p>
        </p:txBody>
      </p:sp>
      <p:sp>
        <p:nvSpPr>
          <p:cNvPr id="33" name="Textfeld 32">
            <a:extLst>
              <a:ext uri="{FF2B5EF4-FFF2-40B4-BE49-F238E27FC236}">
                <a16:creationId xmlns:a16="http://schemas.microsoft.com/office/drawing/2014/main" id="{B3C3D66F-4E34-4FA6-94A6-D65A902EFBAB}"/>
              </a:ext>
            </a:extLst>
          </p:cNvPr>
          <p:cNvSpPr txBox="1"/>
          <p:nvPr/>
        </p:nvSpPr>
        <p:spPr>
          <a:xfrm>
            <a:off x="10012372" y="4442688"/>
            <a:ext cx="1382494" cy="584775"/>
          </a:xfrm>
          <a:prstGeom prst="rect">
            <a:avLst/>
          </a:prstGeom>
          <a:noFill/>
        </p:spPr>
        <p:txBody>
          <a:bodyPr wrap="none" rtlCol="0">
            <a:spAutoFit/>
          </a:bodyPr>
          <a:lstStyle/>
          <a:p>
            <a:r>
              <a:rPr lang="en-US" sz="3200" b="1" dirty="0"/>
              <a:t>society</a:t>
            </a:r>
          </a:p>
        </p:txBody>
      </p:sp>
      <p:sp>
        <p:nvSpPr>
          <p:cNvPr id="34" name="Rechteck: abgerundete Ecken 33">
            <a:extLst>
              <a:ext uri="{FF2B5EF4-FFF2-40B4-BE49-F238E27FC236}">
                <a16:creationId xmlns:a16="http://schemas.microsoft.com/office/drawing/2014/main" id="{8B9FA0B3-53CB-4D92-A6FD-B679008778AC}"/>
              </a:ext>
            </a:extLst>
          </p:cNvPr>
          <p:cNvSpPr/>
          <p:nvPr/>
        </p:nvSpPr>
        <p:spPr>
          <a:xfrm>
            <a:off x="5816715" y="2480306"/>
            <a:ext cx="2347929" cy="238290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it leads to the best outcomes and consequences</a:t>
            </a:r>
          </a:p>
        </p:txBody>
      </p:sp>
      <p:sp>
        <p:nvSpPr>
          <p:cNvPr id="35" name="Pfeil: nach rechts 34">
            <a:extLst>
              <a:ext uri="{FF2B5EF4-FFF2-40B4-BE49-F238E27FC236}">
                <a16:creationId xmlns:a16="http://schemas.microsoft.com/office/drawing/2014/main" id="{1089A778-0C06-40D7-B61B-0369F9B8A347}"/>
              </a:ext>
            </a:extLst>
          </p:cNvPr>
          <p:cNvSpPr/>
          <p:nvPr/>
        </p:nvSpPr>
        <p:spPr>
          <a:xfrm>
            <a:off x="8334979" y="3081373"/>
            <a:ext cx="1093593"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for</a:t>
            </a:r>
          </a:p>
        </p:txBody>
      </p:sp>
      <p:sp>
        <p:nvSpPr>
          <p:cNvPr id="36" name="Pfeil: nach rechts 35">
            <a:extLst>
              <a:ext uri="{FF2B5EF4-FFF2-40B4-BE49-F238E27FC236}">
                <a16:creationId xmlns:a16="http://schemas.microsoft.com/office/drawing/2014/main" id="{F2489518-EEE9-4171-A427-1388DE07A503}"/>
              </a:ext>
            </a:extLst>
          </p:cNvPr>
          <p:cNvSpPr/>
          <p:nvPr/>
        </p:nvSpPr>
        <p:spPr>
          <a:xfrm>
            <a:off x="2729346" y="3081373"/>
            <a:ext cx="2908492"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is morally acceptable if</a:t>
            </a:r>
          </a:p>
        </p:txBody>
      </p:sp>
    </p:spTree>
    <p:extLst>
      <p:ext uri="{BB962C8B-B14F-4D97-AF65-F5344CB8AC3E}">
        <p14:creationId xmlns:p14="http://schemas.microsoft.com/office/powerpoint/2010/main" val="1454159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572223-9AD2-47C7-A51E-749B630FDC33}"/>
              </a:ext>
            </a:extLst>
          </p:cNvPr>
          <p:cNvSpPr>
            <a:spLocks noGrp="1"/>
          </p:cNvSpPr>
          <p:nvPr>
            <p:ph type="title"/>
          </p:nvPr>
        </p:nvSpPr>
        <p:spPr>
          <a:xfrm>
            <a:off x="838200" y="170916"/>
            <a:ext cx="10515600" cy="881049"/>
          </a:xfrm>
        </p:spPr>
        <p:txBody>
          <a:bodyPr/>
          <a:lstStyle/>
          <a:p>
            <a:r>
              <a:rPr lang="en-US" dirty="0">
                <a:highlight>
                  <a:srgbClr val="00FF00"/>
                </a:highlight>
              </a:rPr>
              <a:t>Hedonism</a:t>
            </a:r>
            <a:r>
              <a:rPr lang="en-US" i="1" dirty="0">
                <a:highlight>
                  <a:srgbClr val="00FF00"/>
                </a:highlight>
              </a:rPr>
              <a:t>: Layperson-friendly definition</a:t>
            </a:r>
            <a:endParaRPr lang="en-US" dirty="0">
              <a:highlight>
                <a:srgbClr val="00FF00"/>
              </a:highlight>
            </a:endParaRPr>
          </a:p>
        </p:txBody>
      </p:sp>
      <p:sp>
        <p:nvSpPr>
          <p:cNvPr id="3" name="Inhaltsplatzhalter 2">
            <a:extLst>
              <a:ext uri="{FF2B5EF4-FFF2-40B4-BE49-F238E27FC236}">
                <a16:creationId xmlns:a16="http://schemas.microsoft.com/office/drawing/2014/main" id="{B1A728BB-0B73-4EC0-AFD4-29B357C13B8D}"/>
              </a:ext>
            </a:extLst>
          </p:cNvPr>
          <p:cNvSpPr>
            <a:spLocks noGrp="1"/>
          </p:cNvSpPr>
          <p:nvPr>
            <p:ph idx="1"/>
          </p:nvPr>
        </p:nvSpPr>
        <p:spPr>
          <a:xfrm>
            <a:off x="838200" y="1038081"/>
            <a:ext cx="10515600" cy="1298112"/>
          </a:xfrm>
        </p:spPr>
        <p:txBody>
          <a:bodyPr>
            <a:normAutofit lnSpcReduction="10000"/>
          </a:bodyPr>
          <a:lstStyle/>
          <a:p>
            <a:pPr marL="0" indent="0">
              <a:buNone/>
            </a:pPr>
            <a:r>
              <a:rPr lang="en-US" b="1" dirty="0"/>
              <a:t>In the following we want to ask you to evaluate the "XXX" technology regarding the regarding its consequences for you personally</a:t>
            </a:r>
          </a:p>
          <a:p>
            <a:pPr marL="0" indent="0">
              <a:buNone/>
            </a:pPr>
            <a:r>
              <a:rPr lang="en-US" i="1" dirty="0"/>
              <a:t>Hedonism</a:t>
            </a:r>
            <a:r>
              <a:rPr lang="en-US" dirty="0"/>
              <a:t> is concerned with the consequences for you personally:</a:t>
            </a:r>
          </a:p>
        </p:txBody>
      </p:sp>
      <p:sp>
        <p:nvSpPr>
          <p:cNvPr id="12" name="Inhaltsplatzhalter 2">
            <a:extLst>
              <a:ext uri="{FF2B5EF4-FFF2-40B4-BE49-F238E27FC236}">
                <a16:creationId xmlns:a16="http://schemas.microsoft.com/office/drawing/2014/main" id="{B059FEE9-032E-42EF-B7CA-BCC5A306996C}"/>
              </a:ext>
            </a:extLst>
          </p:cNvPr>
          <p:cNvSpPr txBox="1">
            <a:spLocks/>
          </p:cNvSpPr>
          <p:nvPr/>
        </p:nvSpPr>
        <p:spPr>
          <a:xfrm>
            <a:off x="838200" y="5690091"/>
            <a:ext cx="10515600" cy="1074851"/>
          </a:xfrm>
          <a:prstGeom prst="rect">
            <a:avLst/>
          </a:prstGeom>
          <a:ln>
            <a:solidFill>
              <a:schemeClr val="tx1"/>
            </a:solidFill>
            <a:prstDash val="dash"/>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technology is morally acceptable if it increases pleasure and wellbeing or promotes a good life for you. By interacting with the technology in an instrumental way, you can increase your pleasure, wellbeing or your personal goals.</a:t>
            </a:r>
          </a:p>
        </p:txBody>
      </p:sp>
      <p:sp>
        <p:nvSpPr>
          <p:cNvPr id="19" name="Textfeld 18">
            <a:extLst>
              <a:ext uri="{FF2B5EF4-FFF2-40B4-BE49-F238E27FC236}">
                <a16:creationId xmlns:a16="http://schemas.microsoft.com/office/drawing/2014/main" id="{0C7D9268-939D-4B50-A576-F6E53E0D700A}"/>
              </a:ext>
            </a:extLst>
          </p:cNvPr>
          <p:cNvSpPr txBox="1"/>
          <p:nvPr/>
        </p:nvSpPr>
        <p:spPr>
          <a:xfrm>
            <a:off x="318052" y="3291950"/>
            <a:ext cx="2345707" cy="646331"/>
          </a:xfrm>
          <a:prstGeom prst="rect">
            <a:avLst/>
          </a:prstGeom>
          <a:noFill/>
        </p:spPr>
        <p:txBody>
          <a:bodyPr wrap="none" rtlCol="0">
            <a:spAutoFit/>
          </a:bodyPr>
          <a:lstStyle/>
          <a:p>
            <a:r>
              <a:rPr lang="de-DE" sz="3600" b="1" dirty="0"/>
              <a:t>Technology</a:t>
            </a:r>
            <a:endParaRPr lang="en-US" sz="3600" b="1" dirty="0"/>
          </a:p>
        </p:txBody>
      </p:sp>
      <p:sp>
        <p:nvSpPr>
          <p:cNvPr id="20" name="Textfeld 19">
            <a:extLst>
              <a:ext uri="{FF2B5EF4-FFF2-40B4-BE49-F238E27FC236}">
                <a16:creationId xmlns:a16="http://schemas.microsoft.com/office/drawing/2014/main" id="{E9B3A4D2-0183-4B72-AAD6-144D25164D3A}"/>
              </a:ext>
            </a:extLst>
          </p:cNvPr>
          <p:cNvSpPr txBox="1"/>
          <p:nvPr/>
        </p:nvSpPr>
        <p:spPr>
          <a:xfrm>
            <a:off x="9692506" y="4331705"/>
            <a:ext cx="1881028" cy="1077218"/>
          </a:xfrm>
          <a:prstGeom prst="rect">
            <a:avLst/>
          </a:prstGeom>
          <a:noFill/>
        </p:spPr>
        <p:txBody>
          <a:bodyPr wrap="none" rtlCol="0">
            <a:spAutoFit/>
          </a:bodyPr>
          <a:lstStyle/>
          <a:p>
            <a:r>
              <a:rPr lang="en-US" sz="3200" b="1" dirty="0"/>
              <a:t>you as an</a:t>
            </a:r>
          </a:p>
          <a:p>
            <a:r>
              <a:rPr lang="en-US" sz="3200" b="1" dirty="0"/>
              <a:t>individual</a:t>
            </a:r>
          </a:p>
        </p:txBody>
      </p:sp>
      <p:pic>
        <p:nvPicPr>
          <p:cNvPr id="21" name="Grafik 20" descr="Benutzer">
            <a:extLst>
              <a:ext uri="{FF2B5EF4-FFF2-40B4-BE49-F238E27FC236}">
                <a16:creationId xmlns:a16="http://schemas.microsoft.com/office/drawing/2014/main" id="{5A426476-8792-41A1-85E9-9B5D63651B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40216" y="2522310"/>
            <a:ext cx="2185608" cy="2185608"/>
          </a:xfrm>
          <a:prstGeom prst="rect">
            <a:avLst/>
          </a:prstGeom>
        </p:spPr>
      </p:pic>
      <p:sp>
        <p:nvSpPr>
          <p:cNvPr id="22" name="Rechteck: abgerundete Ecken 21">
            <a:extLst>
              <a:ext uri="{FF2B5EF4-FFF2-40B4-BE49-F238E27FC236}">
                <a16:creationId xmlns:a16="http://schemas.microsoft.com/office/drawing/2014/main" id="{0E3115DA-E114-4071-936F-1D27F2DB6448}"/>
              </a:ext>
            </a:extLst>
          </p:cNvPr>
          <p:cNvSpPr/>
          <p:nvPr/>
        </p:nvSpPr>
        <p:spPr>
          <a:xfrm>
            <a:off x="6013418" y="2423664"/>
            <a:ext cx="2347929" cy="238290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it increases pleasure, wellbeing or promotes a good life</a:t>
            </a:r>
          </a:p>
        </p:txBody>
      </p:sp>
      <p:sp>
        <p:nvSpPr>
          <p:cNvPr id="23" name="Pfeil: nach rechts 22">
            <a:extLst>
              <a:ext uri="{FF2B5EF4-FFF2-40B4-BE49-F238E27FC236}">
                <a16:creationId xmlns:a16="http://schemas.microsoft.com/office/drawing/2014/main" id="{FFF113AC-0DDB-4B18-917E-0E2F69A856B4}"/>
              </a:ext>
            </a:extLst>
          </p:cNvPr>
          <p:cNvSpPr/>
          <p:nvPr/>
        </p:nvSpPr>
        <p:spPr>
          <a:xfrm>
            <a:off x="8614107" y="3024733"/>
            <a:ext cx="1093593"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for</a:t>
            </a:r>
          </a:p>
        </p:txBody>
      </p:sp>
      <p:sp>
        <p:nvSpPr>
          <p:cNvPr id="24" name="Pfeil: nach rechts 23">
            <a:extLst>
              <a:ext uri="{FF2B5EF4-FFF2-40B4-BE49-F238E27FC236}">
                <a16:creationId xmlns:a16="http://schemas.microsoft.com/office/drawing/2014/main" id="{15F2B6C6-BE2E-4F70-897C-838818BBDA69}"/>
              </a:ext>
            </a:extLst>
          </p:cNvPr>
          <p:cNvSpPr/>
          <p:nvPr/>
        </p:nvSpPr>
        <p:spPr>
          <a:xfrm>
            <a:off x="2884342" y="3024730"/>
            <a:ext cx="2908492"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is morally acceptable if</a:t>
            </a:r>
          </a:p>
        </p:txBody>
      </p:sp>
    </p:spTree>
    <p:extLst>
      <p:ext uri="{BB962C8B-B14F-4D97-AF65-F5344CB8AC3E}">
        <p14:creationId xmlns:p14="http://schemas.microsoft.com/office/powerpoint/2010/main" val="3757276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572223-9AD2-47C7-A51E-749B630FDC33}"/>
              </a:ext>
            </a:extLst>
          </p:cNvPr>
          <p:cNvSpPr>
            <a:spLocks noGrp="1"/>
          </p:cNvSpPr>
          <p:nvPr>
            <p:ph type="title"/>
          </p:nvPr>
        </p:nvSpPr>
        <p:spPr>
          <a:xfrm>
            <a:off x="838200" y="170916"/>
            <a:ext cx="10515600" cy="881049"/>
          </a:xfrm>
        </p:spPr>
        <p:txBody>
          <a:bodyPr/>
          <a:lstStyle/>
          <a:p>
            <a:r>
              <a:rPr lang="en-US" dirty="0">
                <a:highlight>
                  <a:srgbClr val="00FF00"/>
                </a:highlight>
              </a:rPr>
              <a:t>Virtue ethics</a:t>
            </a:r>
            <a:r>
              <a:rPr lang="en-US" i="1" dirty="0">
                <a:highlight>
                  <a:srgbClr val="00FF00"/>
                </a:highlight>
              </a:rPr>
              <a:t>: Layperson-friendly definition</a:t>
            </a:r>
            <a:endParaRPr lang="en-US" dirty="0">
              <a:highlight>
                <a:srgbClr val="00FF00"/>
              </a:highlight>
            </a:endParaRPr>
          </a:p>
        </p:txBody>
      </p:sp>
      <p:sp>
        <p:nvSpPr>
          <p:cNvPr id="3" name="Inhaltsplatzhalter 2">
            <a:extLst>
              <a:ext uri="{FF2B5EF4-FFF2-40B4-BE49-F238E27FC236}">
                <a16:creationId xmlns:a16="http://schemas.microsoft.com/office/drawing/2014/main" id="{B1A728BB-0B73-4EC0-AFD4-29B357C13B8D}"/>
              </a:ext>
            </a:extLst>
          </p:cNvPr>
          <p:cNvSpPr>
            <a:spLocks noGrp="1"/>
          </p:cNvSpPr>
          <p:nvPr>
            <p:ph idx="1"/>
          </p:nvPr>
        </p:nvSpPr>
        <p:spPr>
          <a:xfrm>
            <a:off x="838200" y="1038081"/>
            <a:ext cx="10515600" cy="1298112"/>
          </a:xfrm>
        </p:spPr>
        <p:txBody>
          <a:bodyPr>
            <a:normAutofit fontScale="85000" lnSpcReduction="20000"/>
          </a:bodyPr>
          <a:lstStyle/>
          <a:p>
            <a:pPr marL="0" indent="0">
              <a:buNone/>
            </a:pPr>
            <a:r>
              <a:rPr lang="en-US" b="1" dirty="0"/>
              <a:t>In the following we want to ask you to evaluate the "XXX" technology regarding the regarding the moral standards of the person who has developed this technology</a:t>
            </a:r>
          </a:p>
          <a:p>
            <a:pPr marL="0" indent="0">
              <a:buNone/>
            </a:pPr>
            <a:r>
              <a:rPr lang="en-US" i="1" dirty="0"/>
              <a:t>Virtue ethics </a:t>
            </a:r>
            <a:r>
              <a:rPr lang="en-US" dirty="0"/>
              <a:t>is concerned with the moral standards of the technology’s developer:</a:t>
            </a:r>
          </a:p>
        </p:txBody>
      </p:sp>
      <p:sp>
        <p:nvSpPr>
          <p:cNvPr id="12" name="Inhaltsplatzhalter 2">
            <a:extLst>
              <a:ext uri="{FF2B5EF4-FFF2-40B4-BE49-F238E27FC236}">
                <a16:creationId xmlns:a16="http://schemas.microsoft.com/office/drawing/2014/main" id="{B059FEE9-032E-42EF-B7CA-BCC5A306996C}"/>
              </a:ext>
            </a:extLst>
          </p:cNvPr>
          <p:cNvSpPr txBox="1">
            <a:spLocks/>
          </p:cNvSpPr>
          <p:nvPr/>
        </p:nvSpPr>
        <p:spPr>
          <a:xfrm>
            <a:off x="838200" y="5690091"/>
            <a:ext cx="10515600" cy="1074851"/>
          </a:xfrm>
          <a:prstGeom prst="rect">
            <a:avLst/>
          </a:prstGeom>
          <a:ln>
            <a:solidFill>
              <a:schemeClr val="tx1"/>
            </a:solidFill>
            <a:prstDash val="dash"/>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technology is morally acceptable if it has been developed by someone who has the character and ability to recognize what is morally required. The developer is an upright person with high moral standards, who has developed the technology on the basis of her/his values.</a:t>
            </a:r>
          </a:p>
        </p:txBody>
      </p:sp>
      <p:sp>
        <p:nvSpPr>
          <p:cNvPr id="11" name="Textfeld 10">
            <a:extLst>
              <a:ext uri="{FF2B5EF4-FFF2-40B4-BE49-F238E27FC236}">
                <a16:creationId xmlns:a16="http://schemas.microsoft.com/office/drawing/2014/main" id="{390AFB53-FBCE-411E-AAC3-297CE4BFAF62}"/>
              </a:ext>
            </a:extLst>
          </p:cNvPr>
          <p:cNvSpPr txBox="1"/>
          <p:nvPr/>
        </p:nvSpPr>
        <p:spPr>
          <a:xfrm>
            <a:off x="633641" y="3574726"/>
            <a:ext cx="2345707" cy="646331"/>
          </a:xfrm>
          <a:prstGeom prst="rect">
            <a:avLst/>
          </a:prstGeom>
          <a:noFill/>
        </p:spPr>
        <p:txBody>
          <a:bodyPr wrap="none" rtlCol="0">
            <a:spAutoFit/>
          </a:bodyPr>
          <a:lstStyle/>
          <a:p>
            <a:r>
              <a:rPr lang="de-DE" sz="3600" b="1" dirty="0"/>
              <a:t>Technology</a:t>
            </a:r>
            <a:endParaRPr lang="en-US" sz="3600" b="1" dirty="0"/>
          </a:p>
        </p:txBody>
      </p:sp>
      <p:sp>
        <p:nvSpPr>
          <p:cNvPr id="13" name="Textfeld 12">
            <a:extLst>
              <a:ext uri="{FF2B5EF4-FFF2-40B4-BE49-F238E27FC236}">
                <a16:creationId xmlns:a16="http://schemas.microsoft.com/office/drawing/2014/main" id="{C19D3CE5-5AC2-4A20-8CDA-32F2881B5EC2}"/>
              </a:ext>
            </a:extLst>
          </p:cNvPr>
          <p:cNvSpPr txBox="1"/>
          <p:nvPr/>
        </p:nvSpPr>
        <p:spPr>
          <a:xfrm>
            <a:off x="8844378" y="4796951"/>
            <a:ext cx="2157001" cy="584775"/>
          </a:xfrm>
          <a:prstGeom prst="rect">
            <a:avLst/>
          </a:prstGeom>
          <a:noFill/>
        </p:spPr>
        <p:txBody>
          <a:bodyPr wrap="none" rtlCol="0">
            <a:spAutoFit/>
          </a:bodyPr>
          <a:lstStyle/>
          <a:p>
            <a:r>
              <a:rPr lang="en-US" sz="3200" b="1" dirty="0"/>
              <a:t>(developer)</a:t>
            </a:r>
          </a:p>
        </p:txBody>
      </p:sp>
      <p:sp>
        <p:nvSpPr>
          <p:cNvPr id="14" name="Rechteck: abgerundete Ecken 13">
            <a:extLst>
              <a:ext uri="{FF2B5EF4-FFF2-40B4-BE49-F238E27FC236}">
                <a16:creationId xmlns:a16="http://schemas.microsoft.com/office/drawing/2014/main" id="{4BB24017-0E8E-4941-B6CD-647887F9360F}"/>
              </a:ext>
            </a:extLst>
          </p:cNvPr>
          <p:cNvSpPr/>
          <p:nvPr/>
        </p:nvSpPr>
        <p:spPr>
          <a:xfrm>
            <a:off x="6245593" y="2706438"/>
            <a:ext cx="2347929" cy="2382901"/>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it was developed by someone with high moral standards</a:t>
            </a:r>
          </a:p>
        </p:txBody>
      </p:sp>
      <p:pic>
        <p:nvPicPr>
          <p:cNvPr id="15" name="Grafik 14" descr="Person mit Idee">
            <a:extLst>
              <a:ext uri="{FF2B5EF4-FFF2-40B4-BE49-F238E27FC236}">
                <a16:creationId xmlns:a16="http://schemas.microsoft.com/office/drawing/2014/main" id="{29AF12C9-7F17-4474-8C34-E6D074BBDA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1956" y="2227495"/>
            <a:ext cx="2861844" cy="2861844"/>
          </a:xfrm>
          <a:prstGeom prst="rect">
            <a:avLst/>
          </a:prstGeom>
        </p:spPr>
      </p:pic>
      <p:sp>
        <p:nvSpPr>
          <p:cNvPr id="16" name="Pfeil: nach rechts 15">
            <a:extLst>
              <a:ext uri="{FF2B5EF4-FFF2-40B4-BE49-F238E27FC236}">
                <a16:creationId xmlns:a16="http://schemas.microsoft.com/office/drawing/2014/main" id="{19B78DBF-335D-42E8-AA1E-EAE2C64EB4AD}"/>
              </a:ext>
            </a:extLst>
          </p:cNvPr>
          <p:cNvSpPr/>
          <p:nvPr/>
        </p:nvSpPr>
        <p:spPr>
          <a:xfrm>
            <a:off x="3158224" y="3307504"/>
            <a:ext cx="2908492"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is morally acceptable if</a:t>
            </a:r>
          </a:p>
        </p:txBody>
      </p:sp>
    </p:spTree>
    <p:extLst>
      <p:ext uri="{BB962C8B-B14F-4D97-AF65-F5344CB8AC3E}">
        <p14:creationId xmlns:p14="http://schemas.microsoft.com/office/powerpoint/2010/main" val="1480653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572223-9AD2-47C7-A51E-749B630FDC33}"/>
              </a:ext>
            </a:extLst>
          </p:cNvPr>
          <p:cNvSpPr>
            <a:spLocks noGrp="1"/>
          </p:cNvSpPr>
          <p:nvPr>
            <p:ph type="title"/>
          </p:nvPr>
        </p:nvSpPr>
        <p:spPr>
          <a:xfrm>
            <a:off x="838200" y="170916"/>
            <a:ext cx="10515600" cy="881049"/>
          </a:xfrm>
        </p:spPr>
        <p:txBody>
          <a:bodyPr/>
          <a:lstStyle/>
          <a:p>
            <a:r>
              <a:rPr lang="en-US" dirty="0" err="1">
                <a:highlight>
                  <a:srgbClr val="00FF00"/>
                </a:highlight>
              </a:rPr>
              <a:t>Contractualism</a:t>
            </a:r>
            <a:r>
              <a:rPr lang="en-US" i="1" dirty="0">
                <a:highlight>
                  <a:srgbClr val="00FF00"/>
                </a:highlight>
              </a:rPr>
              <a:t>: Layperson-friendly definition</a:t>
            </a:r>
            <a:endParaRPr lang="en-US" dirty="0">
              <a:highlight>
                <a:srgbClr val="00FF00"/>
              </a:highlight>
            </a:endParaRPr>
          </a:p>
        </p:txBody>
      </p:sp>
      <p:sp>
        <p:nvSpPr>
          <p:cNvPr id="3" name="Inhaltsplatzhalter 2">
            <a:extLst>
              <a:ext uri="{FF2B5EF4-FFF2-40B4-BE49-F238E27FC236}">
                <a16:creationId xmlns:a16="http://schemas.microsoft.com/office/drawing/2014/main" id="{B1A728BB-0B73-4EC0-AFD4-29B357C13B8D}"/>
              </a:ext>
            </a:extLst>
          </p:cNvPr>
          <p:cNvSpPr>
            <a:spLocks noGrp="1"/>
          </p:cNvSpPr>
          <p:nvPr>
            <p:ph idx="1"/>
          </p:nvPr>
        </p:nvSpPr>
        <p:spPr>
          <a:xfrm>
            <a:off x="838200" y="1038081"/>
            <a:ext cx="10515600" cy="1298112"/>
          </a:xfrm>
        </p:spPr>
        <p:txBody>
          <a:bodyPr>
            <a:normAutofit fontScale="70000" lnSpcReduction="20000"/>
          </a:bodyPr>
          <a:lstStyle/>
          <a:p>
            <a:pPr marL="0" indent="0">
              <a:buNone/>
            </a:pPr>
            <a:r>
              <a:rPr lang="en-US" b="1" dirty="0"/>
              <a:t>In the following we want to ask you to evaluate the "XXX" technology regarding the in terms of whether it goes against implicit conventions upon which our society generally relies </a:t>
            </a:r>
          </a:p>
          <a:p>
            <a:pPr marL="0" indent="0">
              <a:buNone/>
            </a:pPr>
            <a:r>
              <a:rPr lang="en-US" i="1" dirty="0" err="1"/>
              <a:t>Contractualism</a:t>
            </a:r>
            <a:r>
              <a:rPr lang="en-US" dirty="0"/>
              <a:t> asks whether implicit conventions upon which our society generally relies are disregarded or violated:</a:t>
            </a:r>
          </a:p>
        </p:txBody>
      </p:sp>
      <p:sp>
        <p:nvSpPr>
          <p:cNvPr id="12" name="Inhaltsplatzhalter 2">
            <a:extLst>
              <a:ext uri="{FF2B5EF4-FFF2-40B4-BE49-F238E27FC236}">
                <a16:creationId xmlns:a16="http://schemas.microsoft.com/office/drawing/2014/main" id="{B059FEE9-032E-42EF-B7CA-BCC5A306996C}"/>
              </a:ext>
            </a:extLst>
          </p:cNvPr>
          <p:cNvSpPr txBox="1">
            <a:spLocks/>
          </p:cNvSpPr>
          <p:nvPr/>
        </p:nvSpPr>
        <p:spPr>
          <a:xfrm>
            <a:off x="838200" y="5690091"/>
            <a:ext cx="10515600" cy="1074851"/>
          </a:xfrm>
          <a:prstGeom prst="rect">
            <a:avLst/>
          </a:prstGeom>
          <a:ln>
            <a:solidFill>
              <a:schemeClr val="tx1"/>
            </a:solidFill>
            <a:prstDash val="dash"/>
          </a:ln>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A technology is morally acceptable if it does not disregard or work against implicit moral conventions that are considered essential to the functioning of a society. To not break moral conventions is in the best interest of all members of a society. For example, in a state where there is “war of all against all”, life would be too insecure and harmful.</a:t>
            </a:r>
          </a:p>
        </p:txBody>
      </p:sp>
      <p:pic>
        <p:nvPicPr>
          <p:cNvPr id="11" name="Grafik 10" descr="Benutzer">
            <a:extLst>
              <a:ext uri="{FF2B5EF4-FFF2-40B4-BE49-F238E27FC236}">
                <a16:creationId xmlns:a16="http://schemas.microsoft.com/office/drawing/2014/main" id="{73CB33D5-FE79-4009-93BA-5E98C966E4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6344" y="2260846"/>
            <a:ext cx="2789448" cy="2789448"/>
          </a:xfrm>
          <a:prstGeom prst="rect">
            <a:avLst/>
          </a:prstGeom>
        </p:spPr>
      </p:pic>
      <p:sp>
        <p:nvSpPr>
          <p:cNvPr id="13" name="Textfeld 12">
            <a:extLst>
              <a:ext uri="{FF2B5EF4-FFF2-40B4-BE49-F238E27FC236}">
                <a16:creationId xmlns:a16="http://schemas.microsoft.com/office/drawing/2014/main" id="{9BD4B873-5521-4AA1-8887-54934B45868A}"/>
              </a:ext>
            </a:extLst>
          </p:cNvPr>
          <p:cNvSpPr txBox="1"/>
          <p:nvPr/>
        </p:nvSpPr>
        <p:spPr>
          <a:xfrm>
            <a:off x="0" y="3332404"/>
            <a:ext cx="2345707" cy="646331"/>
          </a:xfrm>
          <a:prstGeom prst="rect">
            <a:avLst/>
          </a:prstGeom>
          <a:noFill/>
        </p:spPr>
        <p:txBody>
          <a:bodyPr wrap="none" rtlCol="0">
            <a:spAutoFit/>
          </a:bodyPr>
          <a:lstStyle/>
          <a:p>
            <a:r>
              <a:rPr lang="de-DE" sz="3600" b="1" dirty="0"/>
              <a:t>Technology</a:t>
            </a:r>
            <a:endParaRPr lang="en-US" sz="3600" b="1" dirty="0"/>
          </a:p>
        </p:txBody>
      </p:sp>
      <p:sp>
        <p:nvSpPr>
          <p:cNvPr id="14" name="Textfeld 13">
            <a:extLst>
              <a:ext uri="{FF2B5EF4-FFF2-40B4-BE49-F238E27FC236}">
                <a16:creationId xmlns:a16="http://schemas.microsoft.com/office/drawing/2014/main" id="{827CAF26-80C8-4AEF-A4BA-44A1DFB470BE}"/>
              </a:ext>
            </a:extLst>
          </p:cNvPr>
          <p:cNvSpPr txBox="1"/>
          <p:nvPr/>
        </p:nvSpPr>
        <p:spPr>
          <a:xfrm>
            <a:off x="10081345" y="4388067"/>
            <a:ext cx="1382494" cy="584775"/>
          </a:xfrm>
          <a:prstGeom prst="rect">
            <a:avLst/>
          </a:prstGeom>
          <a:noFill/>
        </p:spPr>
        <p:txBody>
          <a:bodyPr wrap="none" rtlCol="0">
            <a:spAutoFit/>
          </a:bodyPr>
          <a:lstStyle/>
          <a:p>
            <a:r>
              <a:rPr lang="en-US" sz="3200" b="1" dirty="0"/>
              <a:t>society</a:t>
            </a:r>
          </a:p>
        </p:txBody>
      </p:sp>
      <p:sp>
        <p:nvSpPr>
          <p:cNvPr id="15" name="Rechteck: abgerundete Ecken 14">
            <a:extLst>
              <a:ext uri="{FF2B5EF4-FFF2-40B4-BE49-F238E27FC236}">
                <a16:creationId xmlns:a16="http://schemas.microsoft.com/office/drawing/2014/main" id="{9B8BC37C-8CD0-45E9-A6C4-7D3184588B4D}"/>
              </a:ext>
            </a:extLst>
          </p:cNvPr>
          <p:cNvSpPr/>
          <p:nvPr/>
        </p:nvSpPr>
        <p:spPr>
          <a:xfrm>
            <a:off x="5481142" y="2299808"/>
            <a:ext cx="3050480" cy="2711527"/>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it does not violate important social norms, like implicitly established codes of practice,</a:t>
            </a:r>
          </a:p>
        </p:txBody>
      </p:sp>
      <p:sp>
        <p:nvSpPr>
          <p:cNvPr id="16" name="Pfeil: nach rechts 15">
            <a:extLst>
              <a:ext uri="{FF2B5EF4-FFF2-40B4-BE49-F238E27FC236}">
                <a16:creationId xmlns:a16="http://schemas.microsoft.com/office/drawing/2014/main" id="{2F1C7273-D61E-4BF4-A6C9-C383637B7895}"/>
              </a:ext>
            </a:extLst>
          </p:cNvPr>
          <p:cNvSpPr/>
          <p:nvPr/>
        </p:nvSpPr>
        <p:spPr>
          <a:xfrm>
            <a:off x="8622935" y="3065187"/>
            <a:ext cx="1093593"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held up in</a:t>
            </a:r>
          </a:p>
        </p:txBody>
      </p:sp>
      <p:sp>
        <p:nvSpPr>
          <p:cNvPr id="17" name="Pfeil: nach rechts 16">
            <a:extLst>
              <a:ext uri="{FF2B5EF4-FFF2-40B4-BE49-F238E27FC236}">
                <a16:creationId xmlns:a16="http://schemas.microsoft.com/office/drawing/2014/main" id="{A1A746C6-43F1-483F-B349-42623EF81F44}"/>
              </a:ext>
            </a:extLst>
          </p:cNvPr>
          <p:cNvSpPr/>
          <p:nvPr/>
        </p:nvSpPr>
        <p:spPr>
          <a:xfrm>
            <a:off x="2437020" y="3065186"/>
            <a:ext cx="2908492"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is morally acceptable if</a:t>
            </a:r>
          </a:p>
        </p:txBody>
      </p:sp>
    </p:spTree>
    <p:extLst>
      <p:ext uri="{BB962C8B-B14F-4D97-AF65-F5344CB8AC3E}">
        <p14:creationId xmlns:p14="http://schemas.microsoft.com/office/powerpoint/2010/main" val="389587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572223-9AD2-47C7-A51E-749B630FDC33}"/>
              </a:ext>
            </a:extLst>
          </p:cNvPr>
          <p:cNvSpPr>
            <a:spLocks noGrp="1"/>
          </p:cNvSpPr>
          <p:nvPr>
            <p:ph type="title"/>
          </p:nvPr>
        </p:nvSpPr>
        <p:spPr>
          <a:xfrm>
            <a:off x="838200" y="170916"/>
            <a:ext cx="10515600" cy="881049"/>
          </a:xfrm>
        </p:spPr>
        <p:txBody>
          <a:bodyPr/>
          <a:lstStyle/>
          <a:p>
            <a:r>
              <a:rPr lang="en-US" dirty="0">
                <a:highlight>
                  <a:srgbClr val="00FF00"/>
                </a:highlight>
              </a:rPr>
              <a:t>Relativism</a:t>
            </a:r>
            <a:r>
              <a:rPr lang="en-US" i="1" dirty="0">
                <a:highlight>
                  <a:srgbClr val="00FF00"/>
                </a:highlight>
              </a:rPr>
              <a:t>: Layperson-friendly definition</a:t>
            </a:r>
            <a:endParaRPr lang="en-US" dirty="0">
              <a:highlight>
                <a:srgbClr val="00FF00"/>
              </a:highlight>
            </a:endParaRPr>
          </a:p>
        </p:txBody>
      </p:sp>
      <p:sp>
        <p:nvSpPr>
          <p:cNvPr id="3" name="Inhaltsplatzhalter 2">
            <a:extLst>
              <a:ext uri="{FF2B5EF4-FFF2-40B4-BE49-F238E27FC236}">
                <a16:creationId xmlns:a16="http://schemas.microsoft.com/office/drawing/2014/main" id="{B1A728BB-0B73-4EC0-AFD4-29B357C13B8D}"/>
              </a:ext>
            </a:extLst>
          </p:cNvPr>
          <p:cNvSpPr>
            <a:spLocks noGrp="1"/>
          </p:cNvSpPr>
          <p:nvPr>
            <p:ph idx="1"/>
          </p:nvPr>
        </p:nvSpPr>
        <p:spPr>
          <a:xfrm>
            <a:off x="838200" y="1038081"/>
            <a:ext cx="10515600" cy="1298112"/>
          </a:xfrm>
        </p:spPr>
        <p:txBody>
          <a:bodyPr>
            <a:normAutofit fontScale="77500" lnSpcReduction="20000"/>
          </a:bodyPr>
          <a:lstStyle/>
          <a:p>
            <a:pPr marL="0" indent="0">
              <a:buNone/>
            </a:pPr>
            <a:r>
              <a:rPr lang="en-US" b="1" dirty="0"/>
              <a:t>In the following we want to ask you to evaluate the "XXX" technology regarding the regarding the possibility that the ethical evaluation differs between groups of people</a:t>
            </a:r>
          </a:p>
          <a:p>
            <a:pPr marL="0" indent="0">
              <a:buNone/>
            </a:pPr>
            <a:r>
              <a:rPr lang="en-US" i="1" dirty="0"/>
              <a:t>Relativism</a:t>
            </a:r>
            <a:r>
              <a:rPr lang="en-US" dirty="0"/>
              <a:t> is concerned with the possibility that ethical evaluation differs between groups of people:</a:t>
            </a:r>
          </a:p>
        </p:txBody>
      </p:sp>
      <p:sp>
        <p:nvSpPr>
          <p:cNvPr id="12" name="Inhaltsplatzhalter 2">
            <a:extLst>
              <a:ext uri="{FF2B5EF4-FFF2-40B4-BE49-F238E27FC236}">
                <a16:creationId xmlns:a16="http://schemas.microsoft.com/office/drawing/2014/main" id="{B059FEE9-032E-42EF-B7CA-BCC5A306996C}"/>
              </a:ext>
            </a:extLst>
          </p:cNvPr>
          <p:cNvSpPr txBox="1">
            <a:spLocks/>
          </p:cNvSpPr>
          <p:nvPr/>
        </p:nvSpPr>
        <p:spPr>
          <a:xfrm>
            <a:off x="838200" y="5690091"/>
            <a:ext cx="10515600" cy="1074851"/>
          </a:xfrm>
          <a:prstGeom prst="rect">
            <a:avLst/>
          </a:prstGeom>
          <a:ln>
            <a:solidFill>
              <a:schemeClr val="tx1"/>
            </a:solidFill>
            <a:prstDash val="dash"/>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The acceptability of a technology depends on the social, cultural and political contexts in which it is applied. These different contexts influence the standards and procedures by which the use or implementation of a technology is justified.</a:t>
            </a:r>
          </a:p>
        </p:txBody>
      </p:sp>
      <p:pic>
        <p:nvPicPr>
          <p:cNvPr id="28" name="Grafik 27" descr="Benutzer">
            <a:extLst>
              <a:ext uri="{FF2B5EF4-FFF2-40B4-BE49-F238E27FC236}">
                <a16:creationId xmlns:a16="http://schemas.microsoft.com/office/drawing/2014/main" id="{DDB4F722-173E-4143-BA87-A129A9C5A43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05101" y="1527949"/>
            <a:ext cx="1697795" cy="1697795"/>
          </a:xfrm>
          <a:prstGeom prst="rect">
            <a:avLst/>
          </a:prstGeom>
        </p:spPr>
      </p:pic>
      <p:sp>
        <p:nvSpPr>
          <p:cNvPr id="29" name="Rechteck: abgerundete Ecken 28">
            <a:extLst>
              <a:ext uri="{FF2B5EF4-FFF2-40B4-BE49-F238E27FC236}">
                <a16:creationId xmlns:a16="http://schemas.microsoft.com/office/drawing/2014/main" id="{1C34D444-0DEE-429C-9DCF-CB79C1EFFCFB}"/>
              </a:ext>
            </a:extLst>
          </p:cNvPr>
          <p:cNvSpPr/>
          <p:nvPr/>
        </p:nvSpPr>
        <p:spPr>
          <a:xfrm>
            <a:off x="5595467" y="2320624"/>
            <a:ext cx="2552994" cy="2517335"/>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400" dirty="0"/>
              <a:t>depending on the social, cultural and political contexts in which it</a:t>
            </a:r>
          </a:p>
          <a:p>
            <a:pPr algn="ctr"/>
            <a:r>
              <a:rPr lang="en-US" sz="2400" dirty="0"/>
              <a:t>is applied.</a:t>
            </a:r>
          </a:p>
        </p:txBody>
      </p:sp>
      <p:sp>
        <p:nvSpPr>
          <p:cNvPr id="30" name="Pfeil: nach rechts 29">
            <a:extLst>
              <a:ext uri="{FF2B5EF4-FFF2-40B4-BE49-F238E27FC236}">
                <a16:creationId xmlns:a16="http://schemas.microsoft.com/office/drawing/2014/main" id="{634EFD40-12EC-403D-803F-9E465B5009B4}"/>
              </a:ext>
            </a:extLst>
          </p:cNvPr>
          <p:cNvSpPr/>
          <p:nvPr/>
        </p:nvSpPr>
        <p:spPr>
          <a:xfrm rot="20381159">
            <a:off x="8165147" y="1971074"/>
            <a:ext cx="1419163" cy="95011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Evaluation differs for</a:t>
            </a:r>
          </a:p>
        </p:txBody>
      </p:sp>
      <p:sp>
        <p:nvSpPr>
          <p:cNvPr id="31" name="Pfeil: nach rechts 30">
            <a:extLst>
              <a:ext uri="{FF2B5EF4-FFF2-40B4-BE49-F238E27FC236}">
                <a16:creationId xmlns:a16="http://schemas.microsoft.com/office/drawing/2014/main" id="{29CEEAD2-4D1E-44F2-BDB0-EB963133AAA5}"/>
              </a:ext>
            </a:extLst>
          </p:cNvPr>
          <p:cNvSpPr/>
          <p:nvPr/>
        </p:nvSpPr>
        <p:spPr>
          <a:xfrm>
            <a:off x="8229026" y="2992732"/>
            <a:ext cx="1419162" cy="95011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Evaluation differs for</a:t>
            </a:r>
          </a:p>
        </p:txBody>
      </p:sp>
      <p:sp>
        <p:nvSpPr>
          <p:cNvPr id="32" name="Pfeil: nach rechts 31">
            <a:extLst>
              <a:ext uri="{FF2B5EF4-FFF2-40B4-BE49-F238E27FC236}">
                <a16:creationId xmlns:a16="http://schemas.microsoft.com/office/drawing/2014/main" id="{5B8EC2A8-643A-475C-B200-96DF096D9C28}"/>
              </a:ext>
            </a:extLst>
          </p:cNvPr>
          <p:cNvSpPr/>
          <p:nvPr/>
        </p:nvSpPr>
        <p:spPr>
          <a:xfrm rot="1170239">
            <a:off x="8216803" y="4104262"/>
            <a:ext cx="1419162" cy="95011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600" dirty="0"/>
              <a:t>Evaluation differs for</a:t>
            </a:r>
          </a:p>
        </p:txBody>
      </p:sp>
      <p:pic>
        <p:nvPicPr>
          <p:cNvPr id="33" name="Grafik 32" descr="Benutzer">
            <a:extLst>
              <a:ext uri="{FF2B5EF4-FFF2-40B4-BE49-F238E27FC236}">
                <a16:creationId xmlns:a16="http://schemas.microsoft.com/office/drawing/2014/main" id="{3F77A5EA-369C-4CFA-9200-EED8F11923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802608" y="2699750"/>
            <a:ext cx="1697795" cy="1697795"/>
          </a:xfrm>
          <a:prstGeom prst="rect">
            <a:avLst/>
          </a:prstGeom>
        </p:spPr>
      </p:pic>
      <p:pic>
        <p:nvPicPr>
          <p:cNvPr id="34" name="Grafik 33" descr="Benutzer">
            <a:extLst>
              <a:ext uri="{FF2B5EF4-FFF2-40B4-BE49-F238E27FC236}">
                <a16:creationId xmlns:a16="http://schemas.microsoft.com/office/drawing/2014/main" id="{F61735DB-C813-417B-BEFA-F484DB0640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728753" y="3957132"/>
            <a:ext cx="1697795" cy="1697795"/>
          </a:xfrm>
          <a:prstGeom prst="rect">
            <a:avLst/>
          </a:prstGeom>
        </p:spPr>
      </p:pic>
      <p:sp>
        <p:nvSpPr>
          <p:cNvPr id="35" name="Textfeld 34">
            <a:extLst>
              <a:ext uri="{FF2B5EF4-FFF2-40B4-BE49-F238E27FC236}">
                <a16:creationId xmlns:a16="http://schemas.microsoft.com/office/drawing/2014/main" id="{CEA3DDB4-D509-461A-BDFF-E5B6E404F32F}"/>
              </a:ext>
            </a:extLst>
          </p:cNvPr>
          <p:cNvSpPr txBox="1"/>
          <p:nvPr/>
        </p:nvSpPr>
        <p:spPr>
          <a:xfrm>
            <a:off x="9249196" y="5254818"/>
            <a:ext cx="3188262" cy="400110"/>
          </a:xfrm>
          <a:prstGeom prst="rect">
            <a:avLst/>
          </a:prstGeom>
          <a:noFill/>
        </p:spPr>
        <p:txBody>
          <a:bodyPr wrap="square" rtlCol="0">
            <a:spAutoFit/>
          </a:bodyPr>
          <a:lstStyle/>
          <a:p>
            <a:r>
              <a:rPr lang="en-US" sz="2000" b="1" dirty="0"/>
              <a:t>different groups or people</a:t>
            </a:r>
          </a:p>
        </p:txBody>
      </p:sp>
      <p:sp>
        <p:nvSpPr>
          <p:cNvPr id="36" name="Pfeil: nach rechts 35">
            <a:extLst>
              <a:ext uri="{FF2B5EF4-FFF2-40B4-BE49-F238E27FC236}">
                <a16:creationId xmlns:a16="http://schemas.microsoft.com/office/drawing/2014/main" id="{219B5F3F-494B-49DC-A021-3A09C5B81E37}"/>
              </a:ext>
            </a:extLst>
          </p:cNvPr>
          <p:cNvSpPr/>
          <p:nvPr/>
        </p:nvSpPr>
        <p:spPr>
          <a:xfrm>
            <a:off x="2638133" y="2992732"/>
            <a:ext cx="2908492" cy="1180768"/>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000" dirty="0"/>
              <a:t>is morally evaluated</a:t>
            </a:r>
          </a:p>
        </p:txBody>
      </p:sp>
      <p:sp>
        <p:nvSpPr>
          <p:cNvPr id="37" name="Textfeld 36">
            <a:extLst>
              <a:ext uri="{FF2B5EF4-FFF2-40B4-BE49-F238E27FC236}">
                <a16:creationId xmlns:a16="http://schemas.microsoft.com/office/drawing/2014/main" id="{3434035C-886D-4FDD-8849-71AB76EDE176}"/>
              </a:ext>
            </a:extLst>
          </p:cNvPr>
          <p:cNvSpPr txBox="1"/>
          <p:nvPr/>
        </p:nvSpPr>
        <p:spPr>
          <a:xfrm>
            <a:off x="243584" y="3189874"/>
            <a:ext cx="2345707" cy="646331"/>
          </a:xfrm>
          <a:prstGeom prst="rect">
            <a:avLst/>
          </a:prstGeom>
          <a:noFill/>
        </p:spPr>
        <p:txBody>
          <a:bodyPr wrap="none" rtlCol="0">
            <a:spAutoFit/>
          </a:bodyPr>
          <a:lstStyle/>
          <a:p>
            <a:r>
              <a:rPr lang="de-DE" sz="3600" b="1" dirty="0"/>
              <a:t>Technology</a:t>
            </a:r>
            <a:endParaRPr lang="en-US" sz="3600" b="1" dirty="0"/>
          </a:p>
        </p:txBody>
      </p:sp>
    </p:spTree>
    <p:extLst>
      <p:ext uri="{BB962C8B-B14F-4D97-AF65-F5344CB8AC3E}">
        <p14:creationId xmlns:p14="http://schemas.microsoft.com/office/powerpoint/2010/main" val="359175524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1053</Words>
  <Application>Microsoft Office PowerPoint</Application>
  <PresentationFormat>Breitbild</PresentationFormat>
  <Paragraphs>79</Paragraphs>
  <Slides>8</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8</vt:i4>
      </vt:variant>
    </vt:vector>
  </HeadingPairs>
  <TitlesOfParts>
    <vt:vector size="12" baseType="lpstr">
      <vt:lpstr>Arial</vt:lpstr>
      <vt:lpstr>Calibri</vt:lpstr>
      <vt:lpstr>Calibri Light</vt:lpstr>
      <vt:lpstr>Office</vt:lpstr>
      <vt:lpstr>Study flow within ESTA</vt:lpstr>
      <vt:lpstr>Introduction to Ethical Theories</vt:lpstr>
      <vt:lpstr>Deontology: Layperson-friendly definition</vt:lpstr>
      <vt:lpstr>Utilitarianism: Layperson-friendly definition</vt:lpstr>
      <vt:lpstr>Hedonism: Layperson-friendly definition</vt:lpstr>
      <vt:lpstr>Virtue ethics: Layperson-friendly definition</vt:lpstr>
      <vt:lpstr>Contractualism: Layperson-friendly definition</vt:lpstr>
      <vt:lpstr>Relativism: Layperson-friendly definition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Julius Fenn</dc:creator>
  <cp:lastModifiedBy>Julius Fenn</cp:lastModifiedBy>
  <cp:revision>23</cp:revision>
  <dcterms:created xsi:type="dcterms:W3CDTF">2022-10-13T11:35:52Z</dcterms:created>
  <dcterms:modified xsi:type="dcterms:W3CDTF">2025-07-29T11:59:45Z</dcterms:modified>
</cp:coreProperties>
</file>