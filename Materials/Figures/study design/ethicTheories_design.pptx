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88" r:id="rId2"/>
  </p:sldIdLst>
  <p:sldSz cx="7812088" cy="7596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6197"/>
  </p:normalViewPr>
  <p:slideViewPr>
    <p:cSldViewPr snapToGrid="0">
      <p:cViewPr varScale="1">
        <p:scale>
          <a:sx n="115" d="100"/>
          <a:sy n="115" d="100"/>
        </p:scale>
        <p:origin x="16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41500" y="1143000"/>
            <a:ext cx="317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1pPr>
    <a:lvl2pPr marL="384277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2pPr>
    <a:lvl3pPr marL="76855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3pPr>
    <a:lvl4pPr marL="115283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4pPr>
    <a:lvl5pPr marL="1537106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5pPr>
    <a:lvl6pPr marL="192138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6pPr>
    <a:lvl7pPr marL="230566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7pPr>
    <a:lvl8pPr marL="2689936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8pPr>
    <a:lvl9pPr marL="307421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0" y="1143000"/>
            <a:ext cx="31750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7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907" y="1243173"/>
            <a:ext cx="6640275" cy="2644599"/>
          </a:xfrm>
        </p:spPr>
        <p:txBody>
          <a:bodyPr anchor="b"/>
          <a:lstStyle>
            <a:lvl1pPr algn="ctr">
              <a:defRPr sz="512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6511" y="3989757"/>
            <a:ext cx="5859066" cy="1833987"/>
          </a:xfrm>
        </p:spPr>
        <p:txBody>
          <a:bodyPr/>
          <a:lstStyle>
            <a:lvl1pPr marL="0" indent="0" algn="ctr">
              <a:buNone/>
              <a:defRPr sz="2050"/>
            </a:lvl1pPr>
            <a:lvl2pPr marL="390586" indent="0" algn="ctr">
              <a:buNone/>
              <a:defRPr sz="1709"/>
            </a:lvl2pPr>
            <a:lvl3pPr marL="781172" indent="0" algn="ctr">
              <a:buNone/>
              <a:defRPr sz="1538"/>
            </a:lvl3pPr>
            <a:lvl4pPr marL="1171758" indent="0" algn="ctr">
              <a:buNone/>
              <a:defRPr sz="1367"/>
            </a:lvl4pPr>
            <a:lvl5pPr marL="1562344" indent="0" algn="ctr">
              <a:buNone/>
              <a:defRPr sz="1367"/>
            </a:lvl5pPr>
            <a:lvl6pPr marL="1952930" indent="0" algn="ctr">
              <a:buNone/>
              <a:defRPr sz="1367"/>
            </a:lvl6pPr>
            <a:lvl7pPr marL="2343516" indent="0" algn="ctr">
              <a:buNone/>
              <a:defRPr sz="1367"/>
            </a:lvl7pPr>
            <a:lvl8pPr marL="2734102" indent="0" algn="ctr">
              <a:buNone/>
              <a:defRPr sz="1367"/>
            </a:lvl8pPr>
            <a:lvl9pPr marL="3124688" indent="0" algn="ctr">
              <a:buNone/>
              <a:defRPr sz="136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3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013" y="1893774"/>
            <a:ext cx="6737926" cy="3159803"/>
          </a:xfrm>
        </p:spPr>
        <p:txBody>
          <a:bodyPr anchor="b"/>
          <a:lstStyle>
            <a:lvl1pPr>
              <a:defRPr sz="512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013" y="5083469"/>
            <a:ext cx="6737926" cy="1661666"/>
          </a:xfrm>
        </p:spPr>
        <p:txBody>
          <a:bodyPr/>
          <a:lstStyle>
            <a:lvl1pPr marL="0" indent="0">
              <a:buNone/>
              <a:defRPr sz="2050">
                <a:solidFill>
                  <a:schemeClr val="tx1"/>
                </a:solidFill>
              </a:defRPr>
            </a:lvl1pPr>
            <a:lvl2pPr marL="390586" indent="0">
              <a:buNone/>
              <a:defRPr sz="1709">
                <a:solidFill>
                  <a:schemeClr val="tx1">
                    <a:tint val="75000"/>
                  </a:schemeClr>
                </a:solidFill>
              </a:defRPr>
            </a:lvl2pPr>
            <a:lvl3pPr marL="781172" indent="0">
              <a:buNone/>
              <a:defRPr sz="1538">
                <a:solidFill>
                  <a:schemeClr val="tx1">
                    <a:tint val="75000"/>
                  </a:schemeClr>
                </a:solidFill>
              </a:defRPr>
            </a:lvl3pPr>
            <a:lvl4pPr marL="117175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562344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1952930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34351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273410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12468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2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081" y="2022133"/>
            <a:ext cx="3320137" cy="4819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4870" y="2022133"/>
            <a:ext cx="3320137" cy="4819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0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9" y="404428"/>
            <a:ext cx="6737926" cy="146824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099" y="1862122"/>
            <a:ext cx="3304879" cy="912597"/>
          </a:xfrm>
        </p:spPr>
        <p:txBody>
          <a:bodyPr anchor="b"/>
          <a:lstStyle>
            <a:lvl1pPr marL="0" indent="0">
              <a:buNone/>
              <a:defRPr sz="2050" b="1"/>
            </a:lvl1pPr>
            <a:lvl2pPr marL="390586" indent="0">
              <a:buNone/>
              <a:defRPr sz="1709" b="1"/>
            </a:lvl2pPr>
            <a:lvl3pPr marL="781172" indent="0">
              <a:buNone/>
              <a:defRPr sz="1538" b="1"/>
            </a:lvl3pPr>
            <a:lvl4pPr marL="1171758" indent="0">
              <a:buNone/>
              <a:defRPr sz="1367" b="1"/>
            </a:lvl4pPr>
            <a:lvl5pPr marL="1562344" indent="0">
              <a:buNone/>
              <a:defRPr sz="1367" b="1"/>
            </a:lvl5pPr>
            <a:lvl6pPr marL="1952930" indent="0">
              <a:buNone/>
              <a:defRPr sz="1367" b="1"/>
            </a:lvl6pPr>
            <a:lvl7pPr marL="2343516" indent="0">
              <a:buNone/>
              <a:defRPr sz="1367" b="1"/>
            </a:lvl7pPr>
            <a:lvl8pPr marL="2734102" indent="0">
              <a:buNone/>
              <a:defRPr sz="1367" b="1"/>
            </a:lvl8pPr>
            <a:lvl9pPr marL="3124688" indent="0">
              <a:buNone/>
              <a:defRPr sz="13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8099" y="2774719"/>
            <a:ext cx="3304879" cy="40811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4870" y="1862122"/>
            <a:ext cx="3321155" cy="912597"/>
          </a:xfrm>
        </p:spPr>
        <p:txBody>
          <a:bodyPr anchor="b"/>
          <a:lstStyle>
            <a:lvl1pPr marL="0" indent="0">
              <a:buNone/>
              <a:defRPr sz="2050" b="1"/>
            </a:lvl1pPr>
            <a:lvl2pPr marL="390586" indent="0">
              <a:buNone/>
              <a:defRPr sz="1709" b="1"/>
            </a:lvl2pPr>
            <a:lvl3pPr marL="781172" indent="0">
              <a:buNone/>
              <a:defRPr sz="1538" b="1"/>
            </a:lvl3pPr>
            <a:lvl4pPr marL="1171758" indent="0">
              <a:buNone/>
              <a:defRPr sz="1367" b="1"/>
            </a:lvl4pPr>
            <a:lvl5pPr marL="1562344" indent="0">
              <a:buNone/>
              <a:defRPr sz="1367" b="1"/>
            </a:lvl5pPr>
            <a:lvl6pPr marL="1952930" indent="0">
              <a:buNone/>
              <a:defRPr sz="1367" b="1"/>
            </a:lvl6pPr>
            <a:lvl7pPr marL="2343516" indent="0">
              <a:buNone/>
              <a:defRPr sz="1367" b="1"/>
            </a:lvl7pPr>
            <a:lvl8pPr marL="2734102" indent="0">
              <a:buNone/>
              <a:defRPr sz="1367" b="1"/>
            </a:lvl8pPr>
            <a:lvl9pPr marL="3124688" indent="0">
              <a:buNone/>
              <a:defRPr sz="13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54870" y="2774719"/>
            <a:ext cx="3321155" cy="40811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2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8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8" y="506412"/>
            <a:ext cx="2519602" cy="1772444"/>
          </a:xfrm>
        </p:spPr>
        <p:txBody>
          <a:bodyPr anchor="b"/>
          <a:lstStyle>
            <a:lvl1pPr>
              <a:defRPr sz="27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155" y="1093712"/>
            <a:ext cx="3954870" cy="5398217"/>
          </a:xfrm>
        </p:spPr>
        <p:txBody>
          <a:bodyPr/>
          <a:lstStyle>
            <a:lvl1pPr>
              <a:defRPr sz="2734"/>
            </a:lvl1pPr>
            <a:lvl2pPr>
              <a:defRPr sz="2392"/>
            </a:lvl2pPr>
            <a:lvl3pPr>
              <a:defRPr sz="2050"/>
            </a:lvl3pPr>
            <a:lvl4pPr>
              <a:defRPr sz="1709"/>
            </a:lvl4pPr>
            <a:lvl5pPr>
              <a:defRPr sz="1709"/>
            </a:lvl5pPr>
            <a:lvl6pPr>
              <a:defRPr sz="1709"/>
            </a:lvl6pPr>
            <a:lvl7pPr>
              <a:defRPr sz="1709"/>
            </a:lvl7pPr>
            <a:lvl8pPr>
              <a:defRPr sz="1709"/>
            </a:lvl8pPr>
            <a:lvl9pPr>
              <a:defRPr sz="170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098" y="2278857"/>
            <a:ext cx="2519602" cy="4221863"/>
          </a:xfrm>
        </p:spPr>
        <p:txBody>
          <a:bodyPr/>
          <a:lstStyle>
            <a:lvl1pPr marL="0" indent="0">
              <a:buNone/>
              <a:defRPr sz="1367"/>
            </a:lvl1pPr>
            <a:lvl2pPr marL="390586" indent="0">
              <a:buNone/>
              <a:defRPr sz="1196"/>
            </a:lvl2pPr>
            <a:lvl3pPr marL="781172" indent="0">
              <a:buNone/>
              <a:defRPr sz="1025"/>
            </a:lvl3pPr>
            <a:lvl4pPr marL="1171758" indent="0">
              <a:buNone/>
              <a:defRPr sz="854"/>
            </a:lvl4pPr>
            <a:lvl5pPr marL="1562344" indent="0">
              <a:buNone/>
              <a:defRPr sz="854"/>
            </a:lvl5pPr>
            <a:lvl6pPr marL="1952930" indent="0">
              <a:buNone/>
              <a:defRPr sz="854"/>
            </a:lvl6pPr>
            <a:lvl7pPr marL="2343516" indent="0">
              <a:buNone/>
              <a:defRPr sz="854"/>
            </a:lvl7pPr>
            <a:lvl8pPr marL="2734102" indent="0">
              <a:buNone/>
              <a:defRPr sz="854"/>
            </a:lvl8pPr>
            <a:lvl9pPr marL="3124688" indent="0">
              <a:buNone/>
              <a:defRPr sz="8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2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8" y="506412"/>
            <a:ext cx="2519602" cy="1772444"/>
          </a:xfrm>
        </p:spPr>
        <p:txBody>
          <a:bodyPr anchor="b"/>
          <a:lstStyle>
            <a:lvl1pPr>
              <a:defRPr sz="27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21155" y="1093712"/>
            <a:ext cx="3954870" cy="5398217"/>
          </a:xfrm>
        </p:spPr>
        <p:txBody>
          <a:bodyPr anchor="t"/>
          <a:lstStyle>
            <a:lvl1pPr marL="0" indent="0">
              <a:buNone/>
              <a:defRPr sz="2734"/>
            </a:lvl1pPr>
            <a:lvl2pPr marL="390586" indent="0">
              <a:buNone/>
              <a:defRPr sz="2392"/>
            </a:lvl2pPr>
            <a:lvl3pPr marL="781172" indent="0">
              <a:buNone/>
              <a:defRPr sz="2050"/>
            </a:lvl3pPr>
            <a:lvl4pPr marL="1171758" indent="0">
              <a:buNone/>
              <a:defRPr sz="1709"/>
            </a:lvl4pPr>
            <a:lvl5pPr marL="1562344" indent="0">
              <a:buNone/>
              <a:defRPr sz="1709"/>
            </a:lvl5pPr>
            <a:lvl6pPr marL="1952930" indent="0">
              <a:buNone/>
              <a:defRPr sz="1709"/>
            </a:lvl6pPr>
            <a:lvl7pPr marL="2343516" indent="0">
              <a:buNone/>
              <a:defRPr sz="1709"/>
            </a:lvl7pPr>
            <a:lvl8pPr marL="2734102" indent="0">
              <a:buNone/>
              <a:defRPr sz="1709"/>
            </a:lvl8pPr>
            <a:lvl9pPr marL="3124688" indent="0">
              <a:buNone/>
              <a:defRPr sz="170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098" y="2278857"/>
            <a:ext cx="2519602" cy="4221863"/>
          </a:xfrm>
        </p:spPr>
        <p:txBody>
          <a:bodyPr/>
          <a:lstStyle>
            <a:lvl1pPr marL="0" indent="0">
              <a:buNone/>
              <a:defRPr sz="1367"/>
            </a:lvl1pPr>
            <a:lvl2pPr marL="390586" indent="0">
              <a:buNone/>
              <a:defRPr sz="1196"/>
            </a:lvl2pPr>
            <a:lvl3pPr marL="781172" indent="0">
              <a:buNone/>
              <a:defRPr sz="1025"/>
            </a:lvl3pPr>
            <a:lvl4pPr marL="1171758" indent="0">
              <a:buNone/>
              <a:defRPr sz="854"/>
            </a:lvl4pPr>
            <a:lvl5pPr marL="1562344" indent="0">
              <a:buNone/>
              <a:defRPr sz="854"/>
            </a:lvl5pPr>
            <a:lvl6pPr marL="1952930" indent="0">
              <a:buNone/>
              <a:defRPr sz="854"/>
            </a:lvl6pPr>
            <a:lvl7pPr marL="2343516" indent="0">
              <a:buNone/>
              <a:defRPr sz="854"/>
            </a:lvl7pPr>
            <a:lvl8pPr marL="2734102" indent="0">
              <a:buNone/>
              <a:defRPr sz="854"/>
            </a:lvl8pPr>
            <a:lvl9pPr marL="3124688" indent="0">
              <a:buNone/>
              <a:defRPr sz="8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90526" y="404427"/>
            <a:ext cx="1684481" cy="643741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7082" y="404427"/>
            <a:ext cx="4955793" cy="643741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7081" y="404428"/>
            <a:ext cx="6737926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081" y="2022133"/>
            <a:ext cx="6737926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7081" y="7040542"/>
            <a:ext cx="175772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7754" y="7040542"/>
            <a:ext cx="263658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17287" y="7040542"/>
            <a:ext cx="175772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4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81172" rtl="0" eaLnBrk="1" latinLnBrk="0" hangingPunct="1">
        <a:lnSpc>
          <a:spcPct val="90000"/>
        </a:lnSpc>
        <a:spcBef>
          <a:spcPct val="0"/>
        </a:spcBef>
        <a:buNone/>
        <a:defRPr sz="37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293" indent="-195293" algn="l" defTabSz="781172" rtl="0" eaLnBrk="1" latinLnBrk="0" hangingPunct="1">
        <a:lnSpc>
          <a:spcPct val="90000"/>
        </a:lnSpc>
        <a:spcBef>
          <a:spcPts val="854"/>
        </a:spcBef>
        <a:buFont typeface="Arial" panose="020B0604020202020204" pitchFamily="34" charset="0"/>
        <a:buChar char="•"/>
        <a:defRPr sz="2392" kern="1200">
          <a:solidFill>
            <a:schemeClr val="tx1"/>
          </a:solidFill>
          <a:latin typeface="+mn-lt"/>
          <a:ea typeface="+mn-ea"/>
          <a:cs typeface="+mn-cs"/>
        </a:defRPr>
      </a:lvl1pPr>
      <a:lvl2pPr marL="585879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976465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709" kern="1200">
          <a:solidFill>
            <a:schemeClr val="tx1"/>
          </a:solidFill>
          <a:latin typeface="+mn-lt"/>
          <a:ea typeface="+mn-ea"/>
          <a:cs typeface="+mn-cs"/>
        </a:defRPr>
      </a:lvl3pPr>
      <a:lvl4pPr marL="1367051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4pPr>
      <a:lvl5pPr marL="1757637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5pPr>
      <a:lvl6pPr marL="2148223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6pPr>
      <a:lvl7pPr marL="2538809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7pPr>
      <a:lvl8pPr marL="2929395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8pPr>
      <a:lvl9pPr marL="3319981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1pPr>
      <a:lvl2pPr marL="390586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2pPr>
      <a:lvl3pPr marL="781172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3pPr>
      <a:lvl4pPr marL="1171758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4pPr>
      <a:lvl5pPr marL="1562344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5pPr>
      <a:lvl6pPr marL="1952930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6pPr>
      <a:lvl7pPr marL="2343516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7pPr>
      <a:lvl8pPr marL="2734102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8pPr>
      <a:lvl9pPr marL="3124688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: abgerundete Ecken 4">
            <a:extLst>
              <a:ext uri="{FF2B5EF4-FFF2-40B4-BE49-F238E27FC236}">
                <a16:creationId xmlns:a16="http://schemas.microsoft.com/office/drawing/2014/main" id="{1A36FC5E-F071-4055-AAD7-44A38FE934E0}"/>
              </a:ext>
            </a:extLst>
          </p:cNvPr>
          <p:cNvSpPr txBox="1">
            <a:spLocks/>
          </p:cNvSpPr>
          <p:nvPr/>
        </p:nvSpPr>
        <p:spPr>
          <a:xfrm>
            <a:off x="238584" y="3554093"/>
            <a:ext cx="1298333" cy="8425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Ethical Theories</a:t>
            </a:r>
          </a:p>
        </p:txBody>
      </p:sp>
      <p:sp>
        <p:nvSpPr>
          <p:cNvPr id="36" name="Rechteck: abgerundete Ecken 4">
            <a:extLst>
              <a:ext uri="{FF2B5EF4-FFF2-40B4-BE49-F238E27FC236}">
                <a16:creationId xmlns:a16="http://schemas.microsoft.com/office/drawing/2014/main" id="{705AF8AC-2443-44D6-B17B-6F84C811BA5F}"/>
              </a:ext>
            </a:extLst>
          </p:cNvPr>
          <p:cNvSpPr txBox="1">
            <a:spLocks/>
          </p:cNvSpPr>
          <p:nvPr/>
        </p:nvSpPr>
        <p:spPr>
          <a:xfrm>
            <a:off x="2319270" y="634238"/>
            <a:ext cx="5211097" cy="668224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hteck: abgerundete Ecken 4">
            <a:extLst>
              <a:ext uri="{FF2B5EF4-FFF2-40B4-BE49-F238E27FC236}">
                <a16:creationId xmlns:a16="http://schemas.microsoft.com/office/drawing/2014/main" id="{C31BB160-1AF3-4A84-BAA6-DCEF04709E73}"/>
              </a:ext>
            </a:extLst>
          </p:cNvPr>
          <p:cNvSpPr txBox="1">
            <a:spLocks/>
          </p:cNvSpPr>
          <p:nvPr/>
        </p:nvSpPr>
        <p:spPr>
          <a:xfrm>
            <a:off x="2575164" y="887279"/>
            <a:ext cx="2295300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Deontology</a:t>
            </a:r>
            <a:br>
              <a:rPr lang="en-US" sz="1069" dirty="0"/>
            </a:br>
            <a:r>
              <a:rPr lang="en-US" sz="1069" b="1" dirty="0"/>
              <a:t>"Respects duties and principles"</a:t>
            </a:r>
            <a:br>
              <a:rPr lang="en-US" sz="1069" dirty="0"/>
            </a:br>
            <a:r>
              <a:rPr lang="en-US" sz="1069" i="1" dirty="0"/>
              <a:t>Focuses on whether the technology upholds moral duties, regardless of the consequences.</a:t>
            </a: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hteck: abgerundete Ecken 4">
            <a:extLst>
              <a:ext uri="{FF2B5EF4-FFF2-40B4-BE49-F238E27FC236}">
                <a16:creationId xmlns:a16="http://schemas.microsoft.com/office/drawing/2014/main" id="{4BBB2D68-1F08-4ADF-92D9-7768A9C1E648}"/>
              </a:ext>
            </a:extLst>
          </p:cNvPr>
          <p:cNvSpPr txBox="1">
            <a:spLocks/>
          </p:cNvSpPr>
          <p:nvPr/>
        </p:nvSpPr>
        <p:spPr>
          <a:xfrm>
            <a:off x="2575166" y="1905186"/>
            <a:ext cx="2295299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Utilitarianism</a:t>
            </a:r>
            <a:br>
              <a:rPr lang="en-US" sz="1069" dirty="0"/>
            </a:br>
            <a:r>
              <a:rPr lang="en-US" sz="1069" b="1" dirty="0"/>
              <a:t>"Maximizes good outcomes for society"</a:t>
            </a:r>
            <a:br>
              <a:rPr lang="en-US" sz="1069" dirty="0"/>
            </a:br>
            <a:r>
              <a:rPr lang="en-US" sz="1069" i="1" dirty="0"/>
              <a:t>Judges technology by how much it benefits society overall.</a:t>
            </a:r>
          </a:p>
        </p:txBody>
      </p:sp>
      <p:sp>
        <p:nvSpPr>
          <p:cNvPr id="46" name="Rechteck: abgerundete Ecken 4">
            <a:extLst>
              <a:ext uri="{FF2B5EF4-FFF2-40B4-BE49-F238E27FC236}">
                <a16:creationId xmlns:a16="http://schemas.microsoft.com/office/drawing/2014/main" id="{FE711579-8BE5-4599-B277-BDB414F68021}"/>
              </a:ext>
            </a:extLst>
          </p:cNvPr>
          <p:cNvSpPr txBox="1">
            <a:spLocks/>
          </p:cNvSpPr>
          <p:nvPr/>
        </p:nvSpPr>
        <p:spPr>
          <a:xfrm>
            <a:off x="2575164" y="2940713"/>
            <a:ext cx="2295300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Hedonism</a:t>
            </a:r>
            <a:br>
              <a:rPr lang="en-US" sz="1069" dirty="0"/>
            </a:br>
            <a:r>
              <a:rPr lang="en-US" sz="1069" b="1" dirty="0"/>
              <a:t>"Enhances personal pleasure and wellbeing"</a:t>
            </a:r>
            <a:br>
              <a:rPr lang="en-US" sz="1069" dirty="0"/>
            </a:br>
            <a:r>
              <a:rPr lang="en-US" sz="1069" i="1" dirty="0"/>
              <a:t>Technology is good if it makes your life better and more enjoyable.</a:t>
            </a:r>
          </a:p>
        </p:txBody>
      </p:sp>
      <p:sp>
        <p:nvSpPr>
          <p:cNvPr id="47" name="Rechteck: abgerundete Ecken 4">
            <a:extLst>
              <a:ext uri="{FF2B5EF4-FFF2-40B4-BE49-F238E27FC236}">
                <a16:creationId xmlns:a16="http://schemas.microsoft.com/office/drawing/2014/main" id="{9F1AF575-7F60-4246-9D23-F418EE479A6E}"/>
              </a:ext>
            </a:extLst>
          </p:cNvPr>
          <p:cNvSpPr txBox="1">
            <a:spLocks/>
          </p:cNvSpPr>
          <p:nvPr/>
        </p:nvSpPr>
        <p:spPr>
          <a:xfrm>
            <a:off x="2575164" y="3973545"/>
            <a:ext cx="2295300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Virtue Ethics</a:t>
            </a:r>
            <a:br>
              <a:rPr lang="en-US" sz="1069" dirty="0"/>
            </a:br>
            <a:r>
              <a:rPr lang="en-US" sz="1069" b="1" dirty="0"/>
              <a:t>"Created by a morally good person"</a:t>
            </a:r>
            <a:br>
              <a:rPr lang="en-US" sz="1069" dirty="0"/>
            </a:br>
            <a:r>
              <a:rPr lang="en-US" sz="1069" i="1" dirty="0"/>
              <a:t>Moral value stems from the character of the developer behind the technology.</a:t>
            </a: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hteck: abgerundete Ecken 4">
            <a:extLst>
              <a:ext uri="{FF2B5EF4-FFF2-40B4-BE49-F238E27FC236}">
                <a16:creationId xmlns:a16="http://schemas.microsoft.com/office/drawing/2014/main" id="{A4F35DB7-EB20-4BEA-B431-FA6AE7080570}"/>
              </a:ext>
            </a:extLst>
          </p:cNvPr>
          <p:cNvSpPr txBox="1">
            <a:spLocks/>
          </p:cNvSpPr>
          <p:nvPr/>
        </p:nvSpPr>
        <p:spPr>
          <a:xfrm>
            <a:off x="2575164" y="4994147"/>
            <a:ext cx="2295300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 err="1"/>
              <a:t>Contractualism</a:t>
            </a:r>
            <a:br>
              <a:rPr lang="en-US" sz="1069" dirty="0"/>
            </a:br>
            <a:r>
              <a:rPr lang="en-US" sz="1069" b="1" dirty="0"/>
              <a:t>"Respects shared social norms"</a:t>
            </a:r>
            <a:br>
              <a:rPr lang="en-US" sz="1069" dirty="0"/>
            </a:br>
            <a:r>
              <a:rPr lang="en-US" sz="1069" i="1" dirty="0"/>
              <a:t>Technology is acceptable if it doesn't break important social conventions.</a:t>
            </a: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hteck: abgerundete Ecken 4">
            <a:extLst>
              <a:ext uri="{FF2B5EF4-FFF2-40B4-BE49-F238E27FC236}">
                <a16:creationId xmlns:a16="http://schemas.microsoft.com/office/drawing/2014/main" id="{44635BDD-86F4-4D59-AF56-A9D643C3D9FD}"/>
              </a:ext>
            </a:extLst>
          </p:cNvPr>
          <p:cNvSpPr txBox="1">
            <a:spLocks/>
          </p:cNvSpPr>
          <p:nvPr/>
        </p:nvSpPr>
        <p:spPr>
          <a:xfrm>
            <a:off x="2575164" y="6014749"/>
            <a:ext cx="2295300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Relativism</a:t>
            </a:r>
            <a:br>
              <a:rPr lang="en-US" sz="1069" dirty="0"/>
            </a:br>
            <a:r>
              <a:rPr lang="en-US" sz="1069" b="1" dirty="0"/>
              <a:t>"Depends on cultural and social context"</a:t>
            </a:r>
            <a:br>
              <a:rPr lang="en-US" sz="1069" dirty="0"/>
            </a:br>
            <a:r>
              <a:rPr lang="en-US" sz="1069" i="1" dirty="0"/>
              <a:t>What is ethical can differ between cultures, societies, or groups.</a:t>
            </a: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hteck: abgerundete Ecken 4">
            <a:extLst>
              <a:ext uri="{FF2B5EF4-FFF2-40B4-BE49-F238E27FC236}">
                <a16:creationId xmlns:a16="http://schemas.microsoft.com/office/drawing/2014/main" id="{94F8A3FF-888C-4B2D-AE0E-D0DD19641BCD}"/>
              </a:ext>
            </a:extLst>
          </p:cNvPr>
          <p:cNvSpPr txBox="1">
            <a:spLocks/>
          </p:cNvSpPr>
          <p:nvPr/>
        </p:nvSpPr>
        <p:spPr>
          <a:xfrm>
            <a:off x="5533645" y="887279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(#11):</a:t>
            </a:r>
          </a:p>
          <a:p>
            <a:pPr marL="0" indent="0">
              <a:buNone/>
            </a:pPr>
            <a:r>
              <a:rPr lang="en-US" sz="1100" i="1" dirty="0"/>
              <a:t>The technology (does not) go(es) against an important moral rule by which I live.</a:t>
            </a:r>
            <a:br>
              <a:rPr lang="en-US" sz="1100" i="1" dirty="0"/>
            </a:br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hteck: abgerundete Ecken 4">
            <a:extLst>
              <a:ext uri="{FF2B5EF4-FFF2-40B4-BE49-F238E27FC236}">
                <a16:creationId xmlns:a16="http://schemas.microsoft.com/office/drawing/2014/main" id="{EA964CB4-025D-4DF7-A477-F653F4AF6EEA}"/>
              </a:ext>
            </a:extLst>
          </p:cNvPr>
          <p:cNvSpPr txBox="1">
            <a:spLocks/>
          </p:cNvSpPr>
          <p:nvPr/>
        </p:nvSpPr>
        <p:spPr>
          <a:xfrm>
            <a:off x="5533645" y="1905186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(#10):</a:t>
            </a:r>
          </a:p>
          <a:p>
            <a:pPr marL="0" indent="0">
              <a:buNone/>
            </a:pPr>
            <a:r>
              <a:rPr lang="en-US" sz="1000" i="1" dirty="0"/>
              <a:t>The technology leads to the least good (greatest good) for the greatest number.</a:t>
            </a:r>
            <a:endParaRPr lang="en-US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hteck: abgerundete Ecken 4">
            <a:extLst>
              <a:ext uri="{FF2B5EF4-FFF2-40B4-BE49-F238E27FC236}">
                <a16:creationId xmlns:a16="http://schemas.microsoft.com/office/drawing/2014/main" id="{3306701C-6DEC-4B87-BB4B-69B948AA4F4E}"/>
              </a:ext>
            </a:extLst>
          </p:cNvPr>
          <p:cNvSpPr txBox="1">
            <a:spLocks/>
          </p:cNvSpPr>
          <p:nvPr/>
        </p:nvSpPr>
        <p:spPr>
          <a:xfrm>
            <a:off x="5533644" y="2940712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(#9):</a:t>
            </a:r>
          </a:p>
          <a:p>
            <a:pPr marL="0" indent="0">
              <a:buNone/>
            </a:pPr>
            <a:r>
              <a:rPr lang="en-US" sz="900" i="1" dirty="0"/>
              <a:t>The technology minimizes (maximizes) my pleasure.</a:t>
            </a:r>
            <a:endParaRPr 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hteck: abgerundete Ecken 4">
            <a:extLst>
              <a:ext uri="{FF2B5EF4-FFF2-40B4-BE49-F238E27FC236}">
                <a16:creationId xmlns:a16="http://schemas.microsoft.com/office/drawing/2014/main" id="{6D514C2E-45F1-4640-952F-8A0E589AA1DC}"/>
              </a:ext>
            </a:extLst>
          </p:cNvPr>
          <p:cNvSpPr txBox="1">
            <a:spLocks/>
          </p:cNvSpPr>
          <p:nvPr/>
        </p:nvSpPr>
        <p:spPr>
          <a:xfrm>
            <a:off x="5533643" y="4996191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(#7):</a:t>
            </a:r>
          </a:p>
          <a:p>
            <a:pPr marL="0" indent="0">
              <a:buNone/>
            </a:pPr>
            <a:r>
              <a:rPr lang="en-US" sz="900" i="1" dirty="0"/>
              <a:t>The technology (does not) respect(s) an unwritten contract. </a:t>
            </a:r>
            <a:endParaRPr 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hteck: abgerundete Ecken 4">
            <a:extLst>
              <a:ext uri="{FF2B5EF4-FFF2-40B4-BE49-F238E27FC236}">
                <a16:creationId xmlns:a16="http://schemas.microsoft.com/office/drawing/2014/main" id="{FA800CA5-68FB-40BE-9173-A013CE7100C4}"/>
              </a:ext>
            </a:extLst>
          </p:cNvPr>
          <p:cNvSpPr txBox="1">
            <a:spLocks/>
          </p:cNvSpPr>
          <p:nvPr/>
        </p:nvSpPr>
        <p:spPr>
          <a:xfrm>
            <a:off x="5533644" y="3973544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(#9):</a:t>
            </a:r>
          </a:p>
          <a:p>
            <a:pPr marL="0" indent="0">
              <a:buNone/>
            </a:pPr>
            <a:r>
              <a:rPr lang="en-US" sz="1100" i="1" dirty="0"/>
              <a:t>The technology is developed by someone who has wrong (good) motivations.</a:t>
            </a:r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hteck: abgerundete Ecken 4">
            <a:extLst>
              <a:ext uri="{FF2B5EF4-FFF2-40B4-BE49-F238E27FC236}">
                <a16:creationId xmlns:a16="http://schemas.microsoft.com/office/drawing/2014/main" id="{026A2A02-5B9D-445E-B2E6-08A8E09914B9}"/>
              </a:ext>
            </a:extLst>
          </p:cNvPr>
          <p:cNvSpPr txBox="1">
            <a:spLocks/>
          </p:cNvSpPr>
          <p:nvPr/>
        </p:nvSpPr>
        <p:spPr>
          <a:xfrm>
            <a:off x="5533642" y="6014749"/>
            <a:ext cx="1603433" cy="9200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4" b="1" dirty="0"/>
              <a:t>Items (#5):</a:t>
            </a:r>
          </a:p>
          <a:p>
            <a:pPr marL="0" indent="0">
              <a:buNone/>
            </a:pPr>
            <a:r>
              <a:rPr lang="en-US" sz="900" i="1" dirty="0"/>
              <a:t>The technology is culturally unacceptable (acceptable). </a:t>
            </a:r>
            <a:endParaRPr 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hteck: abgerundete Ecken 4">
            <a:extLst>
              <a:ext uri="{FF2B5EF4-FFF2-40B4-BE49-F238E27FC236}">
                <a16:creationId xmlns:a16="http://schemas.microsoft.com/office/drawing/2014/main" id="{B4943600-335C-49C1-9A27-F91DE1BE9008}"/>
              </a:ext>
            </a:extLst>
          </p:cNvPr>
          <p:cNvSpPr txBox="1">
            <a:spLocks/>
          </p:cNvSpPr>
          <p:nvPr/>
        </p:nvSpPr>
        <p:spPr>
          <a:xfrm>
            <a:off x="2906204" y="232423"/>
            <a:ext cx="3454124" cy="30122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4" b="1" dirty="0"/>
              <a:t>Order of Ethical Theories is randomized</a:t>
            </a:r>
            <a:endParaRPr lang="en-US" sz="10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4385E62-C809-4185-B3D2-8D9B86CE958A}"/>
              </a:ext>
            </a:extLst>
          </p:cNvPr>
          <p:cNvCxnSpPr>
            <a:cxnSpLocks/>
            <a:stCxn id="26" idx="3"/>
            <a:endCxn id="36" idx="1"/>
          </p:cNvCxnSpPr>
          <p:nvPr/>
        </p:nvCxnSpPr>
        <p:spPr>
          <a:xfrm>
            <a:off x="1536917" y="3975360"/>
            <a:ext cx="78235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23486B6-B9EB-4BE6-ABBB-FC079D8A695C}"/>
              </a:ext>
            </a:extLst>
          </p:cNvPr>
          <p:cNvCxnSpPr>
            <a:stCxn id="40" idx="3"/>
            <a:endCxn id="50" idx="1"/>
          </p:cNvCxnSpPr>
          <p:nvPr/>
        </p:nvCxnSpPr>
        <p:spPr>
          <a:xfrm>
            <a:off x="4870464" y="1347285"/>
            <a:ext cx="6631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B302391-93E1-4173-8749-8F145CC11C9C}"/>
              </a:ext>
            </a:extLst>
          </p:cNvPr>
          <p:cNvCxnSpPr>
            <a:stCxn id="41" idx="3"/>
            <a:endCxn id="51" idx="1"/>
          </p:cNvCxnSpPr>
          <p:nvPr/>
        </p:nvCxnSpPr>
        <p:spPr>
          <a:xfrm>
            <a:off x="4870464" y="2365191"/>
            <a:ext cx="6631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2CDAE0E-716E-4E3E-BB16-D55DBFFB76AD}"/>
              </a:ext>
            </a:extLst>
          </p:cNvPr>
          <p:cNvCxnSpPr>
            <a:stCxn id="46" idx="3"/>
            <a:endCxn id="58" idx="1"/>
          </p:cNvCxnSpPr>
          <p:nvPr/>
        </p:nvCxnSpPr>
        <p:spPr>
          <a:xfrm flipV="1">
            <a:off x="4870465" y="3400718"/>
            <a:ext cx="66317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650B01B8-4121-4C0A-BD00-2987EA11BD18}"/>
              </a:ext>
            </a:extLst>
          </p:cNvPr>
          <p:cNvCxnSpPr>
            <a:stCxn id="47" idx="3"/>
            <a:endCxn id="64" idx="1"/>
          </p:cNvCxnSpPr>
          <p:nvPr/>
        </p:nvCxnSpPr>
        <p:spPr>
          <a:xfrm flipV="1">
            <a:off x="4870465" y="4433550"/>
            <a:ext cx="66317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27545B4-6872-4990-A461-C832DE2E8CF8}"/>
              </a:ext>
            </a:extLst>
          </p:cNvPr>
          <p:cNvCxnSpPr>
            <a:stCxn id="48" idx="3"/>
            <a:endCxn id="59" idx="1"/>
          </p:cNvCxnSpPr>
          <p:nvPr/>
        </p:nvCxnSpPr>
        <p:spPr>
          <a:xfrm>
            <a:off x="4870464" y="5454152"/>
            <a:ext cx="663178" cy="20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F54E7424-6FF8-4E83-A8AD-3DC7C2EF9A36}"/>
              </a:ext>
            </a:extLst>
          </p:cNvPr>
          <p:cNvCxnSpPr>
            <a:stCxn id="49" idx="3"/>
          </p:cNvCxnSpPr>
          <p:nvPr/>
        </p:nvCxnSpPr>
        <p:spPr>
          <a:xfrm>
            <a:off x="4870465" y="6474754"/>
            <a:ext cx="6631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59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252</Words>
  <Application>Microsoft Office PowerPoint</Application>
  <PresentationFormat>Benutzerdefiniert</PresentationFormat>
  <Paragraphs>21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141</cp:revision>
  <dcterms:created xsi:type="dcterms:W3CDTF">2022-11-11T07:25:43Z</dcterms:created>
  <dcterms:modified xsi:type="dcterms:W3CDTF">2025-07-29T10:33:23Z</dcterms:modified>
</cp:coreProperties>
</file>