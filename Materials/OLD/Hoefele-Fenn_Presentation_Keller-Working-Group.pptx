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notesMasterIdLst>
    <p:notesMasterId r:id="rId23"/>
  </p:notesMasterIdLst>
  <p:sldIdLst>
    <p:sldId id="256" r:id="rId2"/>
    <p:sldId id="295" r:id="rId3"/>
    <p:sldId id="297" r:id="rId4"/>
    <p:sldId id="271" r:id="rId5"/>
    <p:sldId id="298" r:id="rId6"/>
    <p:sldId id="301" r:id="rId7"/>
    <p:sldId id="302" r:id="rId8"/>
    <p:sldId id="299" r:id="rId9"/>
    <p:sldId id="306" r:id="rId10"/>
    <p:sldId id="300" r:id="rId11"/>
    <p:sldId id="303" r:id="rId12"/>
    <p:sldId id="307" r:id="rId13"/>
    <p:sldId id="308" r:id="rId14"/>
    <p:sldId id="304" r:id="rId15"/>
    <p:sldId id="312" r:id="rId16"/>
    <p:sldId id="296" r:id="rId17"/>
    <p:sldId id="311" r:id="rId18"/>
    <p:sldId id="313" r:id="rId19"/>
    <p:sldId id="314" r:id="rId20"/>
    <p:sldId id="315" r:id="rId21"/>
    <p:sldId id="310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51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DE0DAC-C22B-4B90-B85C-B0C461BE1167}" type="datetimeFigureOut">
              <a:rPr lang="de-DE" smtClean="0"/>
              <a:t>27.06.2022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14DC7-8508-4841-BDBC-29DF439919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0848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E8C261-DC9A-4DEC-BC2C-3F67666DC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C528B1F-F49E-4A29-9F6E-E2870157F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C3E006-CF1E-4679-BA08-7E21A97B8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A8AA-3B83-4517-BA13-7A26FBA69F14}" type="datetime1">
              <a:rPr lang="de-DE" smtClean="0"/>
              <a:t>27.06.2022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7AD722-7210-4580-96ED-114357EA1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39AC4A-8A48-4394-BA6C-47852430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603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3618BD-F485-40D4-947C-7463942B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3CB31F-3933-4354-86FB-AC81421A3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9A6652-C970-4AD3-97B5-6160DF017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C40C3-59E6-419F-ACC4-FAD14770F4C1}" type="datetime1">
              <a:rPr lang="de-DE" smtClean="0"/>
              <a:t>27.06.2022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F3B5FC-27EA-484B-B340-8763590A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3A4581-4775-469A-9924-C06AE6A41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944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A57F5E-4366-4C87-875A-1FD6719D8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36B7E1-D64A-429D-B926-9DC95BDC4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7F310A-1FFC-406B-BB31-632B55E23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A253-C60D-43AE-ABDD-C3F6EA3DDD4E}" type="datetime1">
              <a:rPr lang="de-DE" smtClean="0"/>
              <a:t>27.06.2022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51963D-0578-4102-B816-A359EB71C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2C40FB-10A9-4384-8F91-CB23C003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11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483370-3026-41E4-AE21-809EAC0B5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D8FE26-B21E-472A-BBBC-0794E38345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BF20FC-D72D-4819-BF26-104DDDA53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593A0A-963D-461C-A7BE-62E9019C4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A1AF6-B428-431E-A2E9-345675D93891}" type="datetime1">
              <a:rPr lang="de-DE" smtClean="0"/>
              <a:t>27.06.2022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5F8D6C-F1F3-4427-B3F8-7EF9AF8D9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D95060-8061-4A2B-B198-857CC302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3159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43943-6493-4DFE-BCD1-85E1EC938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A079DF-94BA-49D1-8842-4B74EF29E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28DC6F3-B776-4C6F-AA1F-B28CE011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D510301-1E8A-47FD-8214-35FDB296F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A3EFE15-A911-4A07-9618-51DBC66C8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83BBFD7-984D-4150-B9AB-8B0EA7E9A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A481-5D7C-484B-AC46-A6B359716E39}" type="datetime1">
              <a:rPr lang="de-DE" smtClean="0"/>
              <a:t>27.06.2022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00D3FB9-2407-479A-A975-202BF9068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2F14C0F-E564-45B0-8F32-E258B5A02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7417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15489F-71FC-4594-B603-6248E2C3B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579F5-DDA8-4DA7-949D-AA9F9D04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335D7-3D96-4E48-AD46-4811FDF980E2}" type="datetime1">
              <a:rPr lang="de-DE" smtClean="0"/>
              <a:t>27.06.2022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60C524C-6F97-4D1A-BA0B-9B512404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EF2EBF8-332B-4861-A38D-5ACB7D225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3843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850C555-7768-47DE-A853-D22DAA672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4F07C-24B9-4D5F-83C3-927C236626DA}" type="datetime1">
              <a:rPr lang="de-DE" smtClean="0"/>
              <a:t>27.06.2022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C32E887-580D-418D-8E84-AF280715D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555579-347E-43C7-B9EB-4CCC3B87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0651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4A5912-5521-4BCC-8685-B1C5A2371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66933D-09C3-4281-B421-1A51D50EE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FBB159F-E4C4-4E65-9A9F-950133B54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29B6600-8EF8-4BDC-8B45-FDE99DCFC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D0DE5-8D7D-4AC2-BD66-21F1A94943D6}" type="datetime1">
              <a:rPr lang="de-DE" smtClean="0"/>
              <a:t>27.06.2022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4EC0C4-CEDB-4FE2-B3C6-579435F9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8E7654-56B6-420B-9D8A-B9881BF1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2727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F9108A-7D51-48FB-B74C-4E99C8197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FA5B4DF-045C-468C-8AAB-6A2A22184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CB0CD22-2836-40B8-BE62-FC384EE6E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CD6457B-ACC3-4038-8236-3A9EF7260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80D0-B80B-421B-BEC0-F9B86F2498E4}" type="datetime1">
              <a:rPr lang="de-DE" smtClean="0"/>
              <a:t>27.06.2022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1BA304-35CE-437D-BAEB-F4FF4BDBF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43DA85-DC69-4F7A-8550-3BF8CE55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116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F3797A-04FA-4A9E-BB8E-3DC5C701E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131A615-F1F5-4B3A-8450-EB0D06068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F94FE7-6E98-4132-A87A-58D1B5EB3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4A1FC-059B-4000-BC8D-20A8A75801E0}" type="datetime1">
              <a:rPr lang="de-DE" smtClean="0"/>
              <a:t>27.06.2022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57E927-6324-426B-B463-4CC55ED2F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68DA82-25B1-4447-AD91-B32BD3F0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8681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6644CDD-FC56-47F5-A334-B701A10D3E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402E169-4F1C-495C-8620-85ED52EAF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A78E02-64E3-4DA9-9B93-7B27D932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2152-7AEB-4725-AD67-2BC7EC91DACC}" type="datetime1">
              <a:rPr lang="de-DE" smtClean="0"/>
              <a:t>27.06.2022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68C892-B595-4CAB-A0C6-146DC08A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C9C6C4-A109-4B2C-A1E8-B9811577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7462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F6203FE-7846-48BD-AA03-9D6E18041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6027D9-6204-4662-B4B0-DB1082705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06A3D0-3246-4AB6-A48D-72BA6000AA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9091A-72BE-4689-AA54-BAD7384FAD57}" type="datetime1">
              <a:rPr lang="de-DE" smtClean="0"/>
              <a:t>27.06.2022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BFC609-0429-4D56-9DBA-6A2A615E9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00912B-D957-458C-A1A3-352A6E07C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8C931-D845-4A53-9743-900552309B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952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6.png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doi.org/10.1007/BF00383391" TargetMode="External"/><Relationship Id="rId4" Type="http://schemas.openxmlformats.org/officeDocument/2006/relationships/hyperlink" Target="https://doi.org/10.1007/BF00383050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256915C-AD93-93A0-9756-76D1A1A20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437" y="171123"/>
            <a:ext cx="2659626" cy="265962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48325" y="1666390"/>
            <a:ext cx="10748778" cy="2743284"/>
          </a:xfrm>
        </p:spPr>
        <p:txBody>
          <a:bodyPr>
            <a:normAutofit/>
          </a:bodyPr>
          <a:lstStyle/>
          <a:p>
            <a:pPr algn="ctr"/>
            <a:r>
              <a:rPr lang="en-US" sz="4000" b="1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Assessment: </a:t>
            </a:r>
            <a:r>
              <a:rPr lang="en-US" sz="4000" b="1" dirty="0">
                <a:solidFill>
                  <a:schemeClr val="accent6">
                    <a:lumMod val="50000"/>
                  </a:schemeClr>
                </a:solidFill>
              </a:rPr>
              <a:t>Challenges and Perspectives for a Real Time Ethics</a:t>
            </a:r>
            <a:br>
              <a:rPr lang="de-DE" sz="4400" b="1" dirty="0">
                <a:solidFill>
                  <a:schemeClr val="accent6">
                    <a:lumMod val="50000"/>
                  </a:schemeClr>
                </a:solidFill>
              </a:rPr>
            </a:br>
            <a:br>
              <a:rPr lang="de-DE" sz="1800" b="1" dirty="0"/>
            </a:br>
            <a:r>
              <a:rPr lang="de-DE" sz="2800" b="1" dirty="0">
                <a:solidFill>
                  <a:schemeClr val="accent6">
                    <a:lumMod val="75000"/>
                  </a:schemeClr>
                </a:solidFill>
              </a:rPr>
              <a:t>Lab Meeting, Keller Research Group, Monday 06/27/2022</a:t>
            </a:r>
            <a:endParaRPr lang="de-DE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494695" y="5426879"/>
            <a:ext cx="3094811" cy="108822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Freie Universität Berlin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Institute </a:t>
            </a:r>
            <a:r>
              <a:rPr lang="de-DE" sz="1400" dirty="0" err="1">
                <a:solidFill>
                  <a:schemeClr val="accent3">
                    <a:lumMod val="50000"/>
                  </a:schemeClr>
                </a:solidFill>
                <a:latin typeface="+mj-lt"/>
              </a:rPr>
              <a:t>for</a:t>
            </a: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 Philosophy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Habelschwerdter Allee 30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14195 Berlin, Germany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de-DE" sz="1400" dirty="0" err="1">
                <a:solidFill>
                  <a:schemeClr val="accent3">
                    <a:lumMod val="50000"/>
                  </a:schemeClr>
                </a:solidFill>
                <a:latin typeface="+mj-lt"/>
              </a:rPr>
              <a:t>e-mail</a:t>
            </a: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: philipp.hoefele@fu-berlin.de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de-DE" sz="1400" dirty="0">
              <a:latin typeface="+mj-lt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545" y="39733"/>
            <a:ext cx="4791280" cy="127186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36ED0F0-B1E8-4C58-A7E2-8C0A9E0C56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3711" y="1076649"/>
            <a:ext cx="2919964" cy="92446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DC7C2E94-F7E2-4C1F-94DC-8A045E11A9F5}"/>
              </a:ext>
            </a:extLst>
          </p:cNvPr>
          <p:cNvSpPr txBox="1"/>
          <p:nvPr/>
        </p:nvSpPr>
        <p:spPr>
          <a:xfrm>
            <a:off x="3198096" y="5426879"/>
            <a:ext cx="239347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Pennsylvania State University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Department </a:t>
            </a:r>
            <a:r>
              <a:rPr lang="de-DE" sz="1400" dirty="0" err="1">
                <a:solidFill>
                  <a:schemeClr val="accent3">
                    <a:lumMod val="50000"/>
                  </a:schemeClr>
                </a:solidFill>
                <a:latin typeface="+mj-lt"/>
              </a:rPr>
              <a:t>of</a:t>
            </a: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 Philosophy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240 Sparks Building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University Park, PA 16802, USA</a:t>
            </a:r>
          </a:p>
          <a:p>
            <a:r>
              <a:rPr lang="de-DE" sz="1400" dirty="0" err="1">
                <a:solidFill>
                  <a:schemeClr val="accent3">
                    <a:lumMod val="50000"/>
                  </a:schemeClr>
                </a:solidFill>
                <a:latin typeface="+mj-lt"/>
              </a:rPr>
              <a:t>e-mail</a:t>
            </a: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: pmh5437@psu.edu</a:t>
            </a:r>
          </a:p>
        </p:txBody>
      </p:sp>
      <p:sp>
        <p:nvSpPr>
          <p:cNvPr id="13" name="Rechtwinkliges Dreieck 12">
            <a:extLst>
              <a:ext uri="{FF2B5EF4-FFF2-40B4-BE49-F238E27FC236}">
                <a16:creationId xmlns:a16="http://schemas.microsoft.com/office/drawing/2014/main" id="{DC38F031-2527-4583-B886-B4082646FB2E}"/>
              </a:ext>
            </a:extLst>
          </p:cNvPr>
          <p:cNvSpPr/>
          <p:nvPr/>
        </p:nvSpPr>
        <p:spPr>
          <a:xfrm rot="5400000">
            <a:off x="-2174132" y="2174132"/>
            <a:ext cx="5661498" cy="1313234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winkliges Dreieck 27">
            <a:extLst>
              <a:ext uri="{FF2B5EF4-FFF2-40B4-BE49-F238E27FC236}">
                <a16:creationId xmlns:a16="http://schemas.microsoft.com/office/drawing/2014/main" id="{ADE10BE1-F731-42C9-B686-1E2B7B359E8A}"/>
              </a:ext>
            </a:extLst>
          </p:cNvPr>
          <p:cNvSpPr/>
          <p:nvPr/>
        </p:nvSpPr>
        <p:spPr>
          <a:xfrm rot="16200000">
            <a:off x="8704633" y="3370634"/>
            <a:ext cx="5661498" cy="1313234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BD5434D-2E05-43AB-8449-8F756E23E67B}"/>
              </a:ext>
            </a:extLst>
          </p:cNvPr>
          <p:cNvSpPr txBox="1"/>
          <p:nvPr/>
        </p:nvSpPr>
        <p:spPr>
          <a:xfrm>
            <a:off x="494695" y="4934659"/>
            <a:ext cx="399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de-DE" sz="1800" i="1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Dr. Philipp Höfele, DAAD-P.R.I.M.E.-Fellow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6CD742A-AF74-CE05-BC5C-FBE0096334D0}"/>
              </a:ext>
            </a:extLst>
          </p:cNvPr>
          <p:cNvSpPr txBox="1"/>
          <p:nvPr/>
        </p:nvSpPr>
        <p:spPr>
          <a:xfrm>
            <a:off x="6062550" y="4800307"/>
            <a:ext cx="493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Julius Fenn, </a:t>
            </a:r>
            <a:r>
              <a:rPr lang="en-US" i="1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PhD Candidate in the DFG Research Training Group "Statistical Modeling in Psychology" </a:t>
            </a:r>
            <a:endParaRPr lang="de-DE" i="1" dirty="0">
              <a:solidFill>
                <a:schemeClr val="accent3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6" name="Untertitel 2">
            <a:extLst>
              <a:ext uri="{FF2B5EF4-FFF2-40B4-BE49-F238E27FC236}">
                <a16:creationId xmlns:a16="http://schemas.microsoft.com/office/drawing/2014/main" id="{E36B8000-783A-9276-D97F-6D2090D39357}"/>
              </a:ext>
            </a:extLst>
          </p:cNvPr>
          <p:cNvSpPr txBox="1">
            <a:spLocks/>
          </p:cNvSpPr>
          <p:nvPr/>
        </p:nvSpPr>
        <p:spPr>
          <a:xfrm>
            <a:off x="6062550" y="5426879"/>
            <a:ext cx="3769707" cy="1088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Albert-Ludwigs-Universität Freiburg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Institute </a:t>
            </a:r>
            <a:r>
              <a:rPr lang="de-DE" sz="1400" dirty="0" err="1">
                <a:solidFill>
                  <a:schemeClr val="accent3">
                    <a:lumMod val="50000"/>
                  </a:schemeClr>
                </a:solidFill>
                <a:latin typeface="+mj-lt"/>
              </a:rPr>
              <a:t>of</a:t>
            </a: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 </a:t>
            </a:r>
            <a:r>
              <a:rPr lang="de-DE" sz="1400" dirty="0" err="1">
                <a:solidFill>
                  <a:schemeClr val="accent3">
                    <a:lumMod val="50000"/>
                  </a:schemeClr>
                </a:solidFill>
                <a:latin typeface="+mj-lt"/>
              </a:rPr>
              <a:t>Psychology</a:t>
            </a: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, </a:t>
            </a:r>
            <a:r>
              <a:rPr lang="de-DE" sz="1400" dirty="0" err="1">
                <a:solidFill>
                  <a:schemeClr val="accent3">
                    <a:lumMod val="50000"/>
                  </a:schemeClr>
                </a:solidFill>
                <a:latin typeface="+mj-lt"/>
              </a:rPr>
              <a:t>Cognition</a:t>
            </a: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, Action, and </a:t>
            </a:r>
            <a:r>
              <a:rPr lang="de-DE" sz="1400" dirty="0" err="1">
                <a:solidFill>
                  <a:schemeClr val="accent3">
                    <a:lumMod val="50000"/>
                  </a:schemeClr>
                </a:solidFill>
                <a:latin typeface="+mj-lt"/>
              </a:rPr>
              <a:t>Sustainability</a:t>
            </a:r>
            <a:endParaRPr lang="de-DE" sz="1400" dirty="0">
              <a:solidFill>
                <a:schemeClr val="accent3">
                  <a:lumMod val="50000"/>
                </a:schemeClr>
              </a:solidFill>
              <a:latin typeface="+mj-lt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Engelbergerstr. 41, 79085 Freiburg, Germany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de-DE" sz="1400" dirty="0" err="1">
                <a:solidFill>
                  <a:schemeClr val="accent3">
                    <a:lumMod val="50000"/>
                  </a:schemeClr>
                </a:solidFill>
                <a:latin typeface="+mj-lt"/>
              </a:rPr>
              <a:t>e-mail</a:t>
            </a:r>
            <a:r>
              <a:rPr lang="de-DE" sz="1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: julius.fenn@psychologie.uni-freiburg.de</a:t>
            </a:r>
            <a:endParaRPr lang="de-DE" sz="1400" dirty="0">
              <a:latin typeface="+mj-lt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0A6030-0962-A43A-4967-550017183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2109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048FBA18-E7B3-4012-7B94-F76CCFDC3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5956" y="-10274"/>
            <a:ext cx="1954561" cy="1954561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344" y="100808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80979"/>
            <a:ext cx="10770124" cy="862336"/>
          </a:xfrm>
        </p:spPr>
        <p:txBody>
          <a:bodyPr>
            <a:normAutofit/>
          </a:bodyPr>
          <a:lstStyle/>
          <a:p>
            <a:r>
              <a:rPr lang="en-US" sz="2800" b="1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</a:t>
            </a:r>
            <a:endParaRPr lang="de-DE" sz="28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FAADB8-E59F-4642-97DD-59E692E0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448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 err="1">
                <a:solidFill>
                  <a:schemeClr val="accent6">
                    <a:lumMod val="50000"/>
                  </a:schemeClr>
                </a:solidFill>
              </a:rPr>
              <a:t>Structure</a:t>
            </a:r>
            <a:r>
              <a:rPr lang="de-DE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6">
                    <a:lumMod val="50000"/>
                  </a:schemeClr>
                </a:solidFill>
              </a:rPr>
              <a:t>of</a:t>
            </a:r>
            <a:r>
              <a:rPr lang="de-DE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6">
                    <a:lumMod val="50000"/>
                  </a:schemeClr>
                </a:solidFill>
              </a:rPr>
              <a:t>our</a:t>
            </a:r>
            <a:r>
              <a:rPr lang="de-DE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6">
                    <a:lumMod val="50000"/>
                  </a:schemeClr>
                </a:solidFill>
              </a:rPr>
              <a:t>presentation</a:t>
            </a:r>
            <a:r>
              <a:rPr lang="de-DE" b="1" dirty="0">
                <a:solidFill>
                  <a:schemeClr val="accent6">
                    <a:lumMod val="50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de-DE" dirty="0"/>
              <a:t>(1) Challenges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technology</a:t>
            </a:r>
            <a:r>
              <a:rPr lang="de-DE" dirty="0"/>
              <a:t> </a:t>
            </a:r>
            <a:r>
              <a:rPr lang="de-DE" dirty="0" err="1"/>
              <a:t>assessment</a:t>
            </a:r>
            <a:r>
              <a:rPr lang="de-DE" dirty="0"/>
              <a:t> and </a:t>
            </a:r>
            <a:r>
              <a:rPr lang="de-DE" dirty="0" err="1"/>
              <a:t>flood</a:t>
            </a:r>
            <a:r>
              <a:rPr lang="de-DE" dirty="0"/>
              <a:t> </a:t>
            </a:r>
            <a:r>
              <a:rPr lang="de-DE" dirty="0" err="1"/>
              <a:t>risk</a:t>
            </a:r>
            <a:r>
              <a:rPr lang="de-DE" dirty="0"/>
              <a:t> </a:t>
            </a:r>
            <a:r>
              <a:rPr lang="de-DE" dirty="0" err="1"/>
              <a:t>management</a:t>
            </a:r>
            <a:r>
              <a:rPr lang="de-DE" dirty="0"/>
              <a:t>: </a:t>
            </a:r>
            <a:r>
              <a:rPr lang="de-DE" dirty="0" err="1"/>
              <a:t>stakeholder</a:t>
            </a:r>
            <a:r>
              <a:rPr lang="de-DE" dirty="0"/>
              <a:t> </a:t>
            </a:r>
            <a:r>
              <a:rPr lang="de-DE" dirty="0" err="1"/>
              <a:t>attitudes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(2) Responses: inter- and </a:t>
            </a:r>
            <a:r>
              <a:rPr lang="de-DE" dirty="0" err="1"/>
              <a:t>transdisciplinarity</a:t>
            </a:r>
            <a:r>
              <a:rPr lang="de-DE" dirty="0"/>
              <a:t>, </a:t>
            </a:r>
            <a:r>
              <a:rPr lang="de-DE" dirty="0" err="1"/>
              <a:t>empirical</a:t>
            </a:r>
            <a:r>
              <a:rPr lang="de-DE" dirty="0"/>
              <a:t> </a:t>
            </a:r>
            <a:r>
              <a:rPr lang="de-DE" dirty="0" err="1"/>
              <a:t>ethics</a:t>
            </a:r>
            <a:r>
              <a:rPr lang="de-DE" dirty="0"/>
              <a:t>, and real-time </a:t>
            </a:r>
            <a:r>
              <a:rPr lang="de-DE" dirty="0" err="1"/>
              <a:t>ethics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(3) </a:t>
            </a:r>
            <a:r>
              <a:rPr lang="de-DE" dirty="0" err="1"/>
              <a:t>Methodological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r>
              <a:rPr lang="de-DE" dirty="0"/>
              <a:t>: </a:t>
            </a:r>
            <a:r>
              <a:rPr lang="de-DE" dirty="0" err="1"/>
              <a:t>ethics</a:t>
            </a:r>
            <a:r>
              <a:rPr lang="de-DE" dirty="0"/>
              <a:t> </a:t>
            </a:r>
            <a:r>
              <a:rPr lang="de-DE" dirty="0" err="1"/>
              <a:t>scale</a:t>
            </a:r>
            <a:r>
              <a:rPr lang="de-DE" dirty="0"/>
              <a:t> on </a:t>
            </a:r>
            <a:r>
              <a:rPr lang="de-DE" dirty="0" err="1"/>
              <a:t>six</a:t>
            </a:r>
            <a:r>
              <a:rPr lang="de-DE" dirty="0"/>
              <a:t>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ethics</a:t>
            </a:r>
            <a:r>
              <a:rPr lang="de-DE" dirty="0"/>
              <a:t> </a:t>
            </a:r>
            <a:r>
              <a:rPr lang="de-DE" dirty="0" err="1"/>
              <a:t>types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(4) Validation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developed</a:t>
            </a:r>
            <a:r>
              <a:rPr lang="de-DE" dirty="0"/>
              <a:t> </a:t>
            </a:r>
            <a:r>
              <a:rPr lang="de-DE" dirty="0" err="1"/>
              <a:t>scale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(5) Statistical </a:t>
            </a:r>
            <a:r>
              <a:rPr lang="de-DE" dirty="0" err="1"/>
              <a:t>opportunities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(6) </a:t>
            </a:r>
            <a:r>
              <a:rPr lang="de-DE" dirty="0" err="1"/>
              <a:t>Conclusions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226" y="691876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45F123E-4975-CFDD-365B-81F815A19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802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D4D4CE6F-4890-D408-E96C-7E671D672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198" y="36955"/>
            <a:ext cx="1738024" cy="1738024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707" y="36955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80979"/>
            <a:ext cx="10770124" cy="862336"/>
          </a:xfrm>
        </p:spPr>
        <p:txBody>
          <a:bodyPr>
            <a:normAutofit fontScale="90000"/>
          </a:bodyPr>
          <a:lstStyle/>
          <a:p>
            <a:b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(1) </a:t>
            </a:r>
            <a:r>
              <a:rPr lang="en-US" sz="3600" b="1" i="1" dirty="0">
                <a:solidFill>
                  <a:schemeClr val="accent6">
                    <a:lumMod val="50000"/>
                  </a:schemeClr>
                </a:solidFill>
              </a:rPr>
              <a:t>Challenges for technology assessment </a:t>
            </a:r>
            <a:br>
              <a:rPr lang="en-US" sz="3600" b="1" i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3600" b="1" i="1" dirty="0">
                <a:solidFill>
                  <a:schemeClr val="accent6">
                    <a:lumMod val="50000"/>
                  </a:schemeClr>
                </a:solidFill>
              </a:rPr>
              <a:t>and flood risk management: stakeholder attitudes</a:t>
            </a:r>
            <a:br>
              <a:rPr lang="en-US" sz="3600" b="1" i="1" dirty="0">
                <a:solidFill>
                  <a:schemeClr val="accent6">
                    <a:lumMod val="50000"/>
                  </a:schemeClr>
                </a:solidFill>
              </a:rPr>
            </a:br>
            <a:endParaRPr lang="de-DE" sz="36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0D1B6D8-A224-5D9E-3544-3E8D64684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70623" y="1462973"/>
            <a:ext cx="6836953" cy="3572725"/>
          </a:xfr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46867" y="645121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28AF48B-BAC2-251C-F051-EB8B128C234C}"/>
              </a:ext>
            </a:extLst>
          </p:cNvPr>
          <p:cNvSpPr txBox="1"/>
          <p:nvPr/>
        </p:nvSpPr>
        <p:spPr>
          <a:xfrm>
            <a:off x="464995" y="5035698"/>
            <a:ext cx="6211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Slide by Parker and </a:t>
            </a:r>
            <a:r>
              <a:rPr lang="en-US" dirty="0" err="1"/>
              <a:t>Tuana</a:t>
            </a:r>
            <a:r>
              <a:rPr lang="en-US" dirty="0"/>
              <a:t>, NCAR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CADD956B-E33C-0DD4-73C7-2F575621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3</a:t>
            </a:fld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BAACD68-CA4F-93FA-8C2F-EDAD510EDE4C}"/>
              </a:ext>
            </a:extLst>
          </p:cNvPr>
          <p:cNvSpPr txBox="1"/>
          <p:nvPr/>
        </p:nvSpPr>
        <p:spPr>
          <a:xfrm>
            <a:off x="7602861" y="1502731"/>
            <a:ext cx="387820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000" b="1" dirty="0">
                <a:solidFill>
                  <a:schemeClr val="accent6">
                    <a:lumMod val="50000"/>
                  </a:schemeClr>
                </a:solidFill>
              </a:rPr>
              <a:t>Great </a:t>
            </a:r>
            <a:r>
              <a:rPr lang="de-DE" sz="2000" b="1" dirty="0" err="1">
                <a:solidFill>
                  <a:schemeClr val="accent6">
                    <a:lumMod val="50000"/>
                  </a:schemeClr>
                </a:solidFill>
              </a:rPr>
              <a:t>Acceleration</a:t>
            </a:r>
            <a:r>
              <a:rPr lang="de-DE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2000" dirty="0"/>
              <a:t>in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Anthropocene</a:t>
            </a:r>
            <a:r>
              <a:rPr lang="de-DE" sz="2000" dirty="0"/>
              <a:t> (</a:t>
            </a:r>
            <a:r>
              <a:rPr lang="de-DE" sz="2000" dirty="0" err="1"/>
              <a:t>accelerating</a:t>
            </a:r>
            <a:r>
              <a:rPr lang="de-DE" sz="2000" dirty="0"/>
              <a:t> </a:t>
            </a:r>
            <a:r>
              <a:rPr lang="de-DE" sz="2000" dirty="0" err="1"/>
              <a:t>technological</a:t>
            </a:r>
            <a:r>
              <a:rPr lang="de-DE" sz="2000" dirty="0"/>
              <a:t> </a:t>
            </a:r>
            <a:r>
              <a:rPr lang="de-DE" sz="2000" dirty="0" err="1"/>
              <a:t>developement</a:t>
            </a:r>
            <a:r>
              <a:rPr lang="de-DE" sz="2000" dirty="0"/>
              <a:t>, </a:t>
            </a:r>
            <a:r>
              <a:rPr lang="de-DE" sz="2000" dirty="0" err="1"/>
              <a:t>waste</a:t>
            </a:r>
            <a:r>
              <a:rPr lang="de-DE" sz="2000" dirty="0"/>
              <a:t>, </a:t>
            </a:r>
            <a:r>
              <a:rPr lang="de-DE" sz="2000" dirty="0" err="1"/>
              <a:t>carbon</a:t>
            </a:r>
            <a:r>
              <a:rPr lang="de-DE" sz="2000" dirty="0"/>
              <a:t> </a:t>
            </a:r>
            <a:r>
              <a:rPr lang="de-DE" sz="2000" dirty="0" err="1"/>
              <a:t>dioxide</a:t>
            </a:r>
            <a:r>
              <a:rPr lang="de-DE" sz="2000" dirty="0"/>
              <a:t>,…)</a:t>
            </a:r>
          </a:p>
          <a:p>
            <a:endParaRPr lang="de-DE" sz="2000" dirty="0"/>
          </a:p>
          <a:p>
            <a:pPr marL="285750" indent="-285750">
              <a:buFontTx/>
              <a:buChar char="-"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Emerging technologies </a:t>
            </a:r>
            <a:r>
              <a:rPr lang="en-US" sz="2000" dirty="0"/>
              <a:t>with normative uncertainties</a:t>
            </a:r>
          </a:p>
          <a:p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Ethical decisions </a:t>
            </a:r>
            <a:r>
              <a:rPr lang="en-US" sz="2000" dirty="0"/>
              <a:t>are required that involve various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stakeholder groups</a:t>
            </a:r>
            <a:r>
              <a:rPr lang="en-US" sz="2000" b="1" dirty="0"/>
              <a:t> </a:t>
            </a:r>
            <a:r>
              <a:rPr lang="en-US" sz="2000" dirty="0"/>
              <a:t>as well as the perspectives of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future generations</a:t>
            </a:r>
          </a:p>
        </p:txBody>
      </p:sp>
    </p:spTree>
    <p:extLst>
      <p:ext uri="{BB962C8B-B14F-4D97-AF65-F5344CB8AC3E}">
        <p14:creationId xmlns:p14="http://schemas.microsoft.com/office/powerpoint/2010/main" val="533345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854F1ACD-D481-9D08-855D-075205828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617" y="87156"/>
            <a:ext cx="1738023" cy="1738023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61682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80979"/>
            <a:ext cx="10770124" cy="862336"/>
          </a:xfrm>
        </p:spPr>
        <p:txBody>
          <a:bodyPr>
            <a:normAutofit fontScale="90000"/>
          </a:bodyPr>
          <a:lstStyle/>
          <a:p>
            <a:b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(2) </a:t>
            </a:r>
            <a:r>
              <a:rPr lang="en-US" sz="3600" b="1" i="1" dirty="0">
                <a:solidFill>
                  <a:schemeClr val="accent6">
                    <a:lumMod val="50000"/>
                  </a:schemeClr>
                </a:solidFill>
              </a:rPr>
              <a:t>Responses: Inter- and </a:t>
            </a:r>
            <a:r>
              <a:rPr lang="en-US" sz="3600" b="1" i="1" dirty="0" err="1">
                <a:solidFill>
                  <a:schemeClr val="accent6">
                    <a:lumMod val="50000"/>
                  </a:schemeClr>
                </a:solidFill>
              </a:rPr>
              <a:t>transdisciplinarity</a:t>
            </a:r>
            <a:r>
              <a:rPr lang="en-US" sz="3600" b="1" i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br>
              <a:rPr lang="en-US" sz="3600" b="1" i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3600" b="1" i="1" dirty="0">
                <a:solidFill>
                  <a:schemeClr val="accent6">
                    <a:lumMod val="50000"/>
                  </a:schemeClr>
                </a:solidFill>
              </a:rPr>
              <a:t>empirical ethics, and real-time ethics</a:t>
            </a:r>
            <a:br>
              <a:rPr lang="en-US" sz="3600" b="1" i="1" dirty="0">
                <a:solidFill>
                  <a:schemeClr val="accent6">
                    <a:lumMod val="50000"/>
                  </a:schemeClr>
                </a:solidFill>
              </a:rPr>
            </a:br>
            <a:endParaRPr lang="de-DE" sz="36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0301" y="681037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51931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157908-F1EA-EECA-3AB8-24384190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4</a:t>
            </a:fld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DF834B6-BC55-A7DA-BE25-A4C61F877FCA}"/>
              </a:ext>
            </a:extLst>
          </p:cNvPr>
          <p:cNvSpPr txBox="1"/>
          <p:nvPr/>
        </p:nvSpPr>
        <p:spPr>
          <a:xfrm>
            <a:off x="583675" y="953266"/>
            <a:ext cx="1151868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(a) Empirical ethics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cooperation of moral psychology and ethics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descriptive and normative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description, interpretation, explanation, evaluation and change of social practices by using empirical data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identification of external conditions that influence the process of ethical decision making </a:t>
            </a:r>
          </a:p>
          <a:p>
            <a:br>
              <a:rPr lang="en-US" sz="2000" b="1" dirty="0"/>
            </a:br>
            <a:r>
              <a:rPr lang="en-US" sz="2000" b="1" dirty="0"/>
              <a:t>(b) Inter- and </a:t>
            </a:r>
            <a:r>
              <a:rPr lang="en-US" sz="2000" b="1" dirty="0" err="1"/>
              <a:t>transdisciplinarity</a:t>
            </a:r>
            <a:endParaRPr lang="en-US" sz="2000" b="1" dirty="0"/>
          </a:p>
          <a:p>
            <a:pPr marL="342900" indent="-342900">
              <a:buFontTx/>
              <a:buChar char="-"/>
            </a:pPr>
            <a:r>
              <a:rPr lang="en-US" sz="2000" dirty="0"/>
              <a:t>involvement of various societal groups and sciences to research in emerging technologies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interdisciplinary evaluation at the technology level, the artifact level and the application level 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Incorporation of  transdisciplinary perspectives (perspectives from various social groups)</a:t>
            </a:r>
          </a:p>
          <a:p>
            <a:endParaRPr lang="en-US" sz="2000" dirty="0"/>
          </a:p>
          <a:p>
            <a:r>
              <a:rPr lang="en-US" sz="2000" b="1" dirty="0"/>
              <a:t>(c) Real-time ethics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technology assessment at an early stage is often based on insufficient information (possible side-effects on society and nature)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“</a:t>
            </a:r>
            <a:r>
              <a:rPr lang="en-US" sz="2000" dirty="0" err="1"/>
              <a:t>Collingridge</a:t>
            </a:r>
            <a:r>
              <a:rPr lang="en-US" sz="2000" dirty="0"/>
              <a:t> dilemma” (inverse proportionality between sufficient information and possibilities for revision)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reduction of the normative uncertainty of emerging technologies</a:t>
            </a:r>
          </a:p>
        </p:txBody>
      </p:sp>
    </p:spTree>
    <p:extLst>
      <p:ext uri="{BB962C8B-B14F-4D97-AF65-F5344CB8AC3E}">
        <p14:creationId xmlns:p14="http://schemas.microsoft.com/office/powerpoint/2010/main" val="379450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7B19591-6962-131B-271D-7563DBF5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17" y="29974"/>
            <a:ext cx="1723219" cy="172321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8326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80979"/>
            <a:ext cx="10770124" cy="862336"/>
          </a:xfrm>
        </p:spPr>
        <p:txBody>
          <a:bodyPr>
            <a:normAutofit fontScale="90000"/>
          </a:bodyPr>
          <a:lstStyle/>
          <a:p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(3.1)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Methodological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implementation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b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ethics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scale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on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six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key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ethics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types</a:t>
            </a:r>
            <a:endParaRPr lang="de-DE" sz="36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FAADB8-E59F-4642-97DD-59E692E0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937" y="1152251"/>
            <a:ext cx="10515600" cy="4923101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u="none" strike="noStrike" baseline="0" dirty="0"/>
              <a:t>Questionnaire to determine the test persons’ ethical judgement of a technology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2000" b="0" i="0" u="none" strike="noStrike" baseline="0" dirty="0"/>
              <a:t>Most </a:t>
            </a:r>
            <a:r>
              <a:rPr lang="de-DE" sz="2000" b="0" i="0" u="none" strike="noStrike" baseline="0" dirty="0" err="1"/>
              <a:t>validated</a:t>
            </a:r>
            <a:r>
              <a:rPr lang="de-DE" sz="2000" b="0" i="0" u="none" strike="noStrike" baseline="0" dirty="0"/>
              <a:t> </a:t>
            </a:r>
            <a:r>
              <a:rPr lang="de-DE" sz="2000" b="0" i="0" u="none" strike="noStrike" baseline="0" dirty="0" err="1"/>
              <a:t>Ethics</a:t>
            </a:r>
            <a:r>
              <a:rPr lang="de-DE" sz="2000" b="0" i="0" u="none" strike="noStrike" baseline="0" dirty="0"/>
              <a:t> Scales: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sz="2000" b="0" i="0" u="none" strike="noStrike" baseline="0" dirty="0" err="1"/>
              <a:t>Multidimensional</a:t>
            </a:r>
            <a:r>
              <a:rPr lang="fr-FR" sz="2000" b="0" i="0" u="none" strike="noStrike" baseline="0" dirty="0"/>
              <a:t> </a:t>
            </a:r>
            <a:r>
              <a:rPr lang="fr-FR" sz="2000" b="0" i="0" u="none" strike="noStrike" baseline="0" dirty="0" err="1"/>
              <a:t>Ethics</a:t>
            </a:r>
            <a:r>
              <a:rPr lang="fr-FR" sz="2000" b="0" i="0" u="none" strike="noStrike" baseline="0" dirty="0"/>
              <a:t> </a:t>
            </a:r>
            <a:r>
              <a:rPr lang="fr-FR" sz="2000" b="0" i="0" u="none" strike="noStrike" baseline="0" dirty="0" err="1"/>
              <a:t>Scale</a:t>
            </a:r>
            <a:r>
              <a:rPr lang="fr-FR" sz="2000" dirty="0"/>
              <a:t> by </a:t>
            </a:r>
            <a:r>
              <a:rPr lang="fr-FR" sz="2000" b="0" i="0" u="none" strike="noStrike" baseline="0" dirty="0" err="1"/>
              <a:t>Reidenbach</a:t>
            </a:r>
            <a:r>
              <a:rPr lang="fr-FR" sz="2000" b="0" i="0" u="none" strike="noStrike" baseline="0" dirty="0"/>
              <a:t> &amp; Robin 1988, 1990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i="0" u="none" strike="noStrike" baseline="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u="none" strike="noStrike" baseline="0" dirty="0"/>
              <a:t>Shortcomings </a:t>
            </a:r>
            <a:r>
              <a:rPr lang="en-US" sz="2000" b="0" i="0" u="none" strike="noStrike" baseline="0" dirty="0"/>
              <a:t>in terms of content and psychometrics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0" i="0" u="none" strike="noStrike" baseline="0" dirty="0"/>
              <a:t>central moral theories are missing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0" i="0" u="none" strike="noStrike" baseline="0" dirty="0"/>
              <a:t>based on too few 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de-DE" sz="2000" b="0" i="0" u="none" strike="noStrike" baseline="0" dirty="0"/>
              <a:t>Background in </a:t>
            </a:r>
            <a:r>
              <a:rPr lang="de-DE" sz="2000" b="0" i="0" u="none" strike="noStrike" baseline="0" dirty="0" err="1"/>
              <a:t>business</a:t>
            </a:r>
            <a:r>
              <a:rPr lang="de-DE" sz="2000" b="0" i="0" u="none" strike="noStrike" baseline="0" dirty="0"/>
              <a:t> </a:t>
            </a:r>
            <a:r>
              <a:rPr lang="de-DE" sz="2000" b="0" i="0" u="none" strike="noStrike" baseline="0" dirty="0" err="1"/>
              <a:t>ethics</a:t>
            </a:r>
            <a:endParaRPr lang="de-DE" sz="2000" b="0" i="0" u="none" strike="noStrike" baseline="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→</a:t>
            </a:r>
            <a:r>
              <a:rPr lang="en-US" sz="2000" b="0" i="0" u="none" strike="noStrike" baseline="0" dirty="0"/>
              <a:t> limitations in the context of technology assessment</a:t>
            </a:r>
            <a:endParaRPr lang="de-DE" sz="20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i="0" u="none" strike="noStrike" baseline="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u="none" strike="noStrike" baseline="0" dirty="0"/>
              <a:t>Benefits of an Empirical Ethics Scale for Technology Assessment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0" i="0" u="none" strike="noStrike" baseline="0" dirty="0"/>
              <a:t>Ethical assessment of a technology in terms of </a:t>
            </a:r>
            <a:r>
              <a:rPr lang="en-US" sz="2000" b="1" i="0" u="none" strike="noStrike" baseline="0" dirty="0"/>
              <a:t>several moral principles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O</a:t>
            </a:r>
            <a:r>
              <a:rPr lang="en-US" sz="2000" b="0" i="0" u="none" strike="noStrike" baseline="0" dirty="0"/>
              <a:t>nline studies reaching out to people with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     </a:t>
            </a:r>
            <a:r>
              <a:rPr lang="en-US" sz="2000" b="0" i="0" u="none" strike="noStrike" baseline="0" dirty="0"/>
              <a:t>a) </a:t>
            </a:r>
            <a:r>
              <a:rPr lang="en-US" sz="2000" b="0" i="1" u="none" strike="noStrike" baseline="0" dirty="0"/>
              <a:t>no </a:t>
            </a:r>
            <a:r>
              <a:rPr lang="en-US" sz="2000" b="0" i="0" u="none" strike="noStrike" baseline="0" dirty="0"/>
              <a:t>expertise, b) </a:t>
            </a:r>
            <a:r>
              <a:rPr lang="en-US" sz="2000" b="0" i="1" u="none" strike="noStrike" baseline="0" dirty="0"/>
              <a:t>interactional </a:t>
            </a:r>
            <a:r>
              <a:rPr lang="en-US" sz="2000" b="0" i="0" u="none" strike="noStrike" baseline="0" dirty="0"/>
              <a:t>expertise and c) </a:t>
            </a:r>
            <a:r>
              <a:rPr lang="en-US" sz="2000" b="0" i="1" u="none" strike="noStrike" baseline="0" dirty="0"/>
              <a:t>contributory </a:t>
            </a:r>
            <a:r>
              <a:rPr lang="en-US" sz="2000" b="0" i="0" u="none" strike="noStrike" baseline="0" dirty="0"/>
              <a:t>expertise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i="0" u="none" strike="noStrike" baseline="0" dirty="0">
                <a:solidFill>
                  <a:schemeClr val="accent6">
                    <a:lumMod val="50000"/>
                  </a:schemeClr>
                </a:solidFill>
              </a:rPr>
              <a:t>Inclusion of public perspectives and values </a:t>
            </a:r>
            <a:r>
              <a:rPr lang="en-US" sz="2000" b="0" i="0" u="none" strike="noStrike" baseline="0" dirty="0"/>
              <a:t>brings ethical conflicts between groups of actors to the surface 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4504" y="616453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F470BE7-735B-8495-0E4A-D6D93890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611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854F1ACD-D481-9D08-855D-075205828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617" y="87156"/>
            <a:ext cx="1738023" cy="1738023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61682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70469"/>
            <a:ext cx="10770124" cy="862336"/>
          </a:xfrm>
        </p:spPr>
        <p:txBody>
          <a:bodyPr>
            <a:normAutofit fontScale="90000"/>
          </a:bodyPr>
          <a:lstStyle/>
          <a:p>
            <a:b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(3.2)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Methodological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implementation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b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ethics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scale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on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six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key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ethics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types</a:t>
            </a:r>
            <a:b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</a:br>
            <a:endParaRPr lang="de-DE" sz="36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0301" y="681037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F07A1CA-F41E-4D67-AD19-0D88F837E6F3}"/>
              </a:ext>
            </a:extLst>
          </p:cNvPr>
          <p:cNvSpPr txBox="1"/>
          <p:nvPr/>
        </p:nvSpPr>
        <p:spPr>
          <a:xfrm>
            <a:off x="583675" y="1043112"/>
            <a:ext cx="10770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Ethical input </a:t>
            </a:r>
            <a:r>
              <a:rPr lang="en-US" dirty="0"/>
              <a:t>in the form of questions on six key types of ethics (attention is directed in a specific direction by experts) and at the same time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integration of the societal perspectives of ethical laypersons</a:t>
            </a:r>
            <a:r>
              <a:rPr lang="en-US" dirty="0"/>
              <a:t>:</a:t>
            </a: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F83ECD-85D8-48BF-AAF9-CF30DDD08FB6}"/>
              </a:ext>
            </a:extLst>
          </p:cNvPr>
          <p:cNvSpPr txBox="1"/>
          <p:nvPr/>
        </p:nvSpPr>
        <p:spPr>
          <a:xfrm>
            <a:off x="532433" y="6110129"/>
            <a:ext cx="10979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Fenn, J.*, Höfele P.*, </a:t>
            </a:r>
            <a:r>
              <a:rPr lang="en-US" sz="1000" dirty="0" err="1"/>
              <a:t>Livanec</a:t>
            </a:r>
            <a:r>
              <a:rPr lang="en-US" sz="1000" dirty="0"/>
              <a:t> S., Reuter, L., Müller, O. &amp; </a:t>
            </a:r>
            <a:r>
              <a:rPr lang="en-US" sz="1000" dirty="0" err="1"/>
              <a:t>Kiesel</a:t>
            </a:r>
            <a:r>
              <a:rPr lang="en-US" sz="1000" dirty="0"/>
              <a:t>, A. (in prep.). An Empirical Ethics Scale for Technology Assessment: Challenges and Perspectives for a Real Time Ethics for Emerging Technologies.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157908-F1EA-EECA-3AB8-24384190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6</a:t>
            </a:fld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19B56D03-021B-C47D-7643-EDB6587174E3}"/>
              </a:ext>
            </a:extLst>
          </p:cNvPr>
          <p:cNvSpPr/>
          <p:nvPr/>
        </p:nvSpPr>
        <p:spPr>
          <a:xfrm>
            <a:off x="532433" y="2773110"/>
            <a:ext cx="1559758" cy="20057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Empirical</a:t>
            </a:r>
            <a:r>
              <a:rPr lang="de-DE" dirty="0"/>
              <a:t> </a:t>
            </a:r>
            <a:r>
              <a:rPr lang="de-DE" dirty="0" err="1"/>
              <a:t>Ethics</a:t>
            </a:r>
            <a:r>
              <a:rPr lang="de-DE" dirty="0"/>
              <a:t> </a:t>
            </a:r>
            <a:r>
              <a:rPr lang="de-DE" dirty="0" err="1"/>
              <a:t>Scale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Technology Assessment (ESTA)</a:t>
            </a:r>
            <a:endParaRPr lang="en-US" dirty="0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9AE43968-94BA-F820-A166-D32ACF1C88F8}"/>
              </a:ext>
            </a:extLst>
          </p:cNvPr>
          <p:cNvSpPr/>
          <p:nvPr/>
        </p:nvSpPr>
        <p:spPr>
          <a:xfrm>
            <a:off x="2781963" y="1733877"/>
            <a:ext cx="1677700" cy="678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Deontology</a:t>
            </a:r>
            <a:endParaRPr lang="en-US" dirty="0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955402CB-57E2-CE55-8ADD-CF0612596A8C}"/>
              </a:ext>
            </a:extLst>
          </p:cNvPr>
          <p:cNvSpPr/>
          <p:nvPr/>
        </p:nvSpPr>
        <p:spPr>
          <a:xfrm>
            <a:off x="2805810" y="2460757"/>
            <a:ext cx="1677700" cy="678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Utilitarianism</a:t>
            </a:r>
            <a:endParaRPr lang="en-US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86585C87-1B5F-92CA-5528-4BA1DFA494B7}"/>
              </a:ext>
            </a:extLst>
          </p:cNvPr>
          <p:cNvSpPr/>
          <p:nvPr/>
        </p:nvSpPr>
        <p:spPr>
          <a:xfrm>
            <a:off x="2781963" y="3189646"/>
            <a:ext cx="1701547" cy="678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Hedonism</a:t>
            </a:r>
            <a:endParaRPr lang="en-US" dirty="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22000EEE-C101-4210-37BE-2FE72E02BFC7}"/>
              </a:ext>
            </a:extLst>
          </p:cNvPr>
          <p:cNvSpPr/>
          <p:nvPr/>
        </p:nvSpPr>
        <p:spPr>
          <a:xfrm>
            <a:off x="2781963" y="3938264"/>
            <a:ext cx="1701547" cy="678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Virtue </a:t>
            </a:r>
            <a:r>
              <a:rPr lang="de-DE" dirty="0" err="1"/>
              <a:t>ethics</a:t>
            </a:r>
            <a:endParaRPr lang="en-US" dirty="0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17292D8D-096E-B407-688B-E070727B4948}"/>
              </a:ext>
            </a:extLst>
          </p:cNvPr>
          <p:cNvSpPr/>
          <p:nvPr/>
        </p:nvSpPr>
        <p:spPr>
          <a:xfrm>
            <a:off x="2781964" y="4665439"/>
            <a:ext cx="1701546" cy="678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Contractualism</a:t>
            </a:r>
            <a:endParaRPr lang="en-US" dirty="0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27E279A5-E97F-3F8D-A22F-CAEBB5F8FC7B}"/>
              </a:ext>
            </a:extLst>
          </p:cNvPr>
          <p:cNvSpPr/>
          <p:nvPr/>
        </p:nvSpPr>
        <p:spPr>
          <a:xfrm>
            <a:off x="2781964" y="5405899"/>
            <a:ext cx="1701546" cy="678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Relativism</a:t>
            </a:r>
            <a:endParaRPr lang="en-US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6F397AAD-69F0-4596-BAE2-F7BE74846F2C}"/>
              </a:ext>
            </a:extLst>
          </p:cNvPr>
          <p:cNvSpPr/>
          <p:nvPr/>
        </p:nvSpPr>
        <p:spPr>
          <a:xfrm>
            <a:off x="5197129" y="1727665"/>
            <a:ext cx="1347020" cy="24622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Question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7408E7E-AC1D-7493-1864-9A698CA53566}"/>
              </a:ext>
            </a:extLst>
          </p:cNvPr>
          <p:cNvSpPr/>
          <p:nvPr/>
        </p:nvSpPr>
        <p:spPr>
          <a:xfrm>
            <a:off x="5211876" y="2047288"/>
            <a:ext cx="1347020" cy="24622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Question 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52DD1EB9-D09F-CCF4-F71D-80DEAF09C473}"/>
              </a:ext>
            </a:extLst>
          </p:cNvPr>
          <p:cNvSpPr/>
          <p:nvPr/>
        </p:nvSpPr>
        <p:spPr>
          <a:xfrm>
            <a:off x="5221784" y="5379878"/>
            <a:ext cx="1347020" cy="24622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Question 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74BEA40F-C45E-F81F-0732-D0AF7E8318AD}"/>
              </a:ext>
            </a:extLst>
          </p:cNvPr>
          <p:cNvSpPr/>
          <p:nvPr/>
        </p:nvSpPr>
        <p:spPr>
          <a:xfrm>
            <a:off x="5232962" y="5722058"/>
            <a:ext cx="1347020" cy="24622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Question 51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CF72B1A-12A4-6891-EDCE-5081242C1569}"/>
              </a:ext>
            </a:extLst>
          </p:cNvPr>
          <p:cNvCxnSpPr>
            <a:endCxn id="10" idx="1"/>
          </p:cNvCxnSpPr>
          <p:nvPr/>
        </p:nvCxnSpPr>
        <p:spPr>
          <a:xfrm flipV="1">
            <a:off x="2092191" y="2170398"/>
            <a:ext cx="689772" cy="84545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299C7069-3357-2B9F-956F-3E9328530FEB}"/>
              </a:ext>
            </a:extLst>
          </p:cNvPr>
          <p:cNvCxnSpPr>
            <a:endCxn id="15" idx="1"/>
          </p:cNvCxnSpPr>
          <p:nvPr/>
        </p:nvCxnSpPr>
        <p:spPr>
          <a:xfrm flipV="1">
            <a:off x="2092191" y="2799862"/>
            <a:ext cx="713619" cy="4924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1B62DEF-53F1-D48E-58E8-5AF7BAC4306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1989905" y="3528751"/>
            <a:ext cx="792058" cy="2605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23432006-9534-F1A8-69DE-4580B3D344EA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060016" y="3971834"/>
            <a:ext cx="721947" cy="3055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B5C5E3B1-3A1D-5199-3799-D8E922AC9A2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020042" y="4320473"/>
            <a:ext cx="761922" cy="68407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A9ADE50A-01AA-195F-E07B-E274197DC8D6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092191" y="4457472"/>
            <a:ext cx="689773" cy="12875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E47082D0-1D87-2C14-09B8-71FCEBD074FE}"/>
              </a:ext>
            </a:extLst>
          </p:cNvPr>
          <p:cNvCxnSpPr>
            <a:cxnSpLocks/>
          </p:cNvCxnSpPr>
          <p:nvPr/>
        </p:nvCxnSpPr>
        <p:spPr>
          <a:xfrm flipV="1">
            <a:off x="4432367" y="1832272"/>
            <a:ext cx="792058" cy="2605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D1C804E4-9051-30A0-F3A6-042EC021E203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4459663" y="2170399"/>
            <a:ext cx="752213" cy="144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955BDCC5-0D75-0570-4A97-1C984286CAA0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4461572" y="5502989"/>
            <a:ext cx="760212" cy="202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2CE3F99B-5634-AEC5-BF46-ABD9EAC3685F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469327" y="5675562"/>
            <a:ext cx="763635" cy="16960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elle 47">
            <a:extLst>
              <a:ext uri="{FF2B5EF4-FFF2-40B4-BE49-F238E27FC236}">
                <a16:creationId xmlns:a16="http://schemas.microsoft.com/office/drawing/2014/main" id="{B47F5455-994E-0AC7-E753-6026E6963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826849"/>
              </p:ext>
            </p:extLst>
          </p:nvPr>
        </p:nvGraphicFramePr>
        <p:xfrm>
          <a:off x="6667616" y="1754494"/>
          <a:ext cx="5380216" cy="43068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8655">
                  <a:extLst>
                    <a:ext uri="{9D8B030D-6E8A-4147-A177-3AD203B41FA5}">
                      <a16:colId xmlns:a16="http://schemas.microsoft.com/office/drawing/2014/main" val="1310636028"/>
                    </a:ext>
                  </a:extLst>
                </a:gridCol>
                <a:gridCol w="4011561">
                  <a:extLst>
                    <a:ext uri="{9D8B030D-6E8A-4147-A177-3AD203B41FA5}">
                      <a16:colId xmlns:a16="http://schemas.microsoft.com/office/drawing/2014/main" val="2040371869"/>
                    </a:ext>
                  </a:extLst>
                </a:gridCol>
              </a:tblGrid>
              <a:tr h="56214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Deontology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92" marR="3779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A technology is morally right if it respects basic principles and duties.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92" marR="37792"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793317"/>
                  </a:ext>
                </a:extLst>
              </a:tr>
              <a:tr h="54553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Utilitarianism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92" marR="3779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 technology is morally right if it leads to the greatest good for the greatest number. 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92" marR="37792" marT="0" marB="0"/>
                </a:tc>
                <a:extLst>
                  <a:ext uri="{0D108BD9-81ED-4DB2-BD59-A6C34878D82A}">
                    <a16:rowId xmlns:a16="http://schemas.microsoft.com/office/drawing/2014/main" val="4015346002"/>
                  </a:ext>
                </a:extLst>
              </a:tr>
              <a:tr h="48178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Hedonism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92" marR="3779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 technology is morally right if it increases pleasure, well-being or promotes a good life of an individual agent. 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92" marR="37792" marT="0" marB="0"/>
                </a:tc>
                <a:extLst>
                  <a:ext uri="{0D108BD9-81ED-4DB2-BD59-A6C34878D82A}">
                    <a16:rowId xmlns:a16="http://schemas.microsoft.com/office/drawing/2014/main" val="1855537477"/>
                  </a:ext>
                </a:extLst>
              </a:tr>
              <a:tr h="58010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Virtue ethics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92" marR="3779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The developer is a genuinely virtuous person and has developed the technology taking into account her virtuous characteristics. 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92" marR="37792" marT="0" marB="0"/>
                </a:tc>
                <a:extLst>
                  <a:ext uri="{0D108BD9-81ED-4DB2-BD59-A6C34878D82A}">
                    <a16:rowId xmlns:a16="http://schemas.microsoft.com/office/drawing/2014/main" val="2161621115"/>
                  </a:ext>
                </a:extLst>
              </a:tr>
              <a:tr h="76075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Contractualism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92" marR="3779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 technology is morally right if it does not violate moral norms that arise from mutual consensus. 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92" marR="37792" marT="0" marB="0"/>
                </a:tc>
                <a:extLst>
                  <a:ext uri="{0D108BD9-81ED-4DB2-BD59-A6C34878D82A}">
                    <a16:rowId xmlns:a16="http://schemas.microsoft.com/office/drawing/2014/main" val="3747179143"/>
                  </a:ext>
                </a:extLst>
              </a:tr>
              <a:tr h="84685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Relativism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92" marR="3779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The moral judgement of a technology depends on the personal, societal or cultural contexts, which influence the standards of justification and procedures of justification.  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792" marR="37792" marT="0" marB="0"/>
                </a:tc>
                <a:extLst>
                  <a:ext uri="{0D108BD9-81ED-4DB2-BD59-A6C34878D82A}">
                    <a16:rowId xmlns:a16="http://schemas.microsoft.com/office/drawing/2014/main" val="4211656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266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854F1ACD-D481-9D08-855D-075205828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617" y="87156"/>
            <a:ext cx="1738023" cy="1738023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61682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70469"/>
            <a:ext cx="10770124" cy="862336"/>
          </a:xfrm>
        </p:spPr>
        <p:txBody>
          <a:bodyPr>
            <a:normAutofit fontScale="90000"/>
          </a:bodyPr>
          <a:lstStyle/>
          <a:p>
            <a:b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(3.3)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Methodological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implementation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b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ethics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scale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on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six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key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ethics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types</a:t>
            </a:r>
            <a:b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</a:br>
            <a:endParaRPr lang="de-DE" sz="36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0301" y="681037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F83ECD-85D8-48BF-AAF9-CF30DDD08FB6}"/>
              </a:ext>
            </a:extLst>
          </p:cNvPr>
          <p:cNvSpPr txBox="1"/>
          <p:nvPr/>
        </p:nvSpPr>
        <p:spPr>
          <a:xfrm>
            <a:off x="765815" y="5671143"/>
            <a:ext cx="10979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Fenn, J.*, Höfele P.*, </a:t>
            </a:r>
            <a:r>
              <a:rPr lang="en-US" sz="1000" dirty="0" err="1"/>
              <a:t>Livanec</a:t>
            </a:r>
            <a:r>
              <a:rPr lang="en-US" sz="1000" dirty="0"/>
              <a:t> S., Reuter, L., Müller, O. &amp; </a:t>
            </a:r>
            <a:r>
              <a:rPr lang="en-US" sz="1000" dirty="0" err="1"/>
              <a:t>Kiesel</a:t>
            </a:r>
            <a:r>
              <a:rPr lang="en-US" sz="1000" dirty="0"/>
              <a:t>, A. (in prep.). An Empirical Ethics Scale for Technology Assessment: Challenges and Perspectives for a Real Time Ethics for Emerging Technologies.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157908-F1EA-EECA-3AB8-24384190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7</a:t>
            </a:fld>
            <a:endParaRPr lang="de-DE"/>
          </a:p>
        </p:txBody>
      </p:sp>
      <p:sp>
        <p:nvSpPr>
          <p:cNvPr id="9" name="Sechseck 8">
            <a:extLst>
              <a:ext uri="{FF2B5EF4-FFF2-40B4-BE49-F238E27FC236}">
                <a16:creationId xmlns:a16="http://schemas.microsoft.com/office/drawing/2014/main" id="{7EDFBA2C-F401-DA3D-B410-AA61308D4DD2}"/>
              </a:ext>
            </a:extLst>
          </p:cNvPr>
          <p:cNvSpPr/>
          <p:nvPr/>
        </p:nvSpPr>
        <p:spPr>
          <a:xfrm>
            <a:off x="3300414" y="1734207"/>
            <a:ext cx="4077848" cy="3144562"/>
          </a:xfrm>
          <a:prstGeom prst="hexagon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474710A-C09B-10EA-3D13-B6900B03091E}"/>
              </a:ext>
            </a:extLst>
          </p:cNvPr>
          <p:cNvSpPr/>
          <p:nvPr/>
        </p:nvSpPr>
        <p:spPr>
          <a:xfrm>
            <a:off x="4026030" y="1825179"/>
            <a:ext cx="1157288" cy="9144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6A82864-827B-774C-DEE7-1699C1B459AE}"/>
              </a:ext>
            </a:extLst>
          </p:cNvPr>
          <p:cNvSpPr/>
          <p:nvPr/>
        </p:nvSpPr>
        <p:spPr>
          <a:xfrm>
            <a:off x="5825651" y="2994021"/>
            <a:ext cx="1157288" cy="9144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F352364-3779-34A2-CC8C-90052E69DC42}"/>
              </a:ext>
            </a:extLst>
          </p:cNvPr>
          <p:cNvSpPr/>
          <p:nvPr/>
        </p:nvSpPr>
        <p:spPr>
          <a:xfrm>
            <a:off x="5442837" y="3769518"/>
            <a:ext cx="1157288" cy="9144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9E1F0D3-A2E4-E9F7-A81C-27854CC02ECE}"/>
              </a:ext>
            </a:extLst>
          </p:cNvPr>
          <p:cNvSpPr txBox="1"/>
          <p:nvPr/>
        </p:nvSpPr>
        <p:spPr>
          <a:xfrm>
            <a:off x="3067646" y="1319389"/>
            <a:ext cx="114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Relativism</a:t>
            </a:r>
            <a:endParaRPr lang="en-US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3AFAF4D-5BBD-3D85-B207-248BD1B6008A}"/>
              </a:ext>
            </a:extLst>
          </p:cNvPr>
          <p:cNvSpPr txBox="1"/>
          <p:nvPr/>
        </p:nvSpPr>
        <p:spPr>
          <a:xfrm>
            <a:off x="6757988" y="1445351"/>
            <a:ext cx="165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Contractiualism</a:t>
            </a:r>
            <a:endParaRPr lang="en-US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02509D8-76DB-DFB7-9C80-CD7178FB8E12}"/>
              </a:ext>
            </a:extLst>
          </p:cNvPr>
          <p:cNvSpPr txBox="1"/>
          <p:nvPr/>
        </p:nvSpPr>
        <p:spPr>
          <a:xfrm>
            <a:off x="7594297" y="3125934"/>
            <a:ext cx="1445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Utilitarianism</a:t>
            </a:r>
            <a:endParaRPr lang="en-US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218A085-4DD8-A78D-1F06-2D1F034324D9}"/>
              </a:ext>
            </a:extLst>
          </p:cNvPr>
          <p:cNvSpPr txBox="1"/>
          <p:nvPr/>
        </p:nvSpPr>
        <p:spPr>
          <a:xfrm>
            <a:off x="6757988" y="4795089"/>
            <a:ext cx="136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Virtue </a:t>
            </a:r>
            <a:r>
              <a:rPr lang="de-DE" dirty="0" err="1"/>
              <a:t>ethics</a:t>
            </a:r>
            <a:endParaRPr lang="en-US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C8CC5EA-FD13-18E0-B161-114BF966FA3F}"/>
              </a:ext>
            </a:extLst>
          </p:cNvPr>
          <p:cNvSpPr txBox="1"/>
          <p:nvPr/>
        </p:nvSpPr>
        <p:spPr>
          <a:xfrm>
            <a:off x="2879806" y="4921983"/>
            <a:ext cx="1268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Deontology</a:t>
            </a:r>
            <a:endParaRPr lang="en-US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D7588D3-504C-63B6-6C36-0C854FBAAEC2}"/>
              </a:ext>
            </a:extLst>
          </p:cNvPr>
          <p:cNvSpPr txBox="1"/>
          <p:nvPr/>
        </p:nvSpPr>
        <p:spPr>
          <a:xfrm>
            <a:off x="2005345" y="316730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Hedonism</a:t>
            </a:r>
            <a:endParaRPr lang="en-US" dirty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E18D5006-4270-5A26-CF8A-BF5DAF03F917}"/>
              </a:ext>
            </a:extLst>
          </p:cNvPr>
          <p:cNvSpPr/>
          <p:nvPr/>
        </p:nvSpPr>
        <p:spPr>
          <a:xfrm>
            <a:off x="9400897" y="2397902"/>
            <a:ext cx="578644" cy="55026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4AE2F968-835F-BF15-407C-223B4C77F1F4}"/>
              </a:ext>
            </a:extLst>
          </p:cNvPr>
          <p:cNvSpPr/>
          <p:nvPr/>
        </p:nvSpPr>
        <p:spPr>
          <a:xfrm>
            <a:off x="9722527" y="2379125"/>
            <a:ext cx="578644" cy="61308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898BEFF0-9514-A712-B75E-621ED9F132F2}"/>
              </a:ext>
            </a:extLst>
          </p:cNvPr>
          <p:cNvSpPr/>
          <p:nvPr/>
        </p:nvSpPr>
        <p:spPr>
          <a:xfrm>
            <a:off x="9979541" y="2379124"/>
            <a:ext cx="678467" cy="64260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feil: nach unten 2">
            <a:extLst>
              <a:ext uri="{FF2B5EF4-FFF2-40B4-BE49-F238E27FC236}">
                <a16:creationId xmlns:a16="http://schemas.microsoft.com/office/drawing/2014/main" id="{A4390AA0-B98B-836D-1582-F442999BAA2D}"/>
              </a:ext>
            </a:extLst>
          </p:cNvPr>
          <p:cNvSpPr/>
          <p:nvPr/>
        </p:nvSpPr>
        <p:spPr>
          <a:xfrm>
            <a:off x="9769533" y="3149750"/>
            <a:ext cx="484632" cy="3333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0FEAEFC-6559-789C-4560-2C3F1FCA5324}"/>
              </a:ext>
            </a:extLst>
          </p:cNvPr>
          <p:cNvSpPr txBox="1"/>
          <p:nvPr/>
        </p:nvSpPr>
        <p:spPr>
          <a:xfrm>
            <a:off x="9264751" y="3514115"/>
            <a:ext cx="27865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different </a:t>
            </a:r>
            <a:r>
              <a:rPr lang="de-DE" dirty="0" err="1"/>
              <a:t>stakeholder</a:t>
            </a:r>
            <a:r>
              <a:rPr lang="de-DE" dirty="0"/>
              <a:t> </a:t>
            </a:r>
            <a:r>
              <a:rPr lang="de-DE" dirty="0" err="1"/>
              <a:t>groups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en-US" dirty="0"/>
              <a:t>different age</a:t>
            </a:r>
          </a:p>
          <a:p>
            <a:pPr marL="285750" indent="-285750">
              <a:buFontTx/>
              <a:buChar char="-"/>
            </a:pPr>
            <a:r>
              <a:rPr lang="en-US" dirty="0"/>
              <a:t>different origin</a:t>
            </a:r>
          </a:p>
          <a:p>
            <a:pPr marL="285750" indent="-285750">
              <a:buFontTx/>
              <a:buChar char="-"/>
            </a:pPr>
            <a:r>
              <a:rPr lang="en-US" dirty="0"/>
              <a:t>different levels of education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28473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7B19591-6962-131B-271D-7563DBF5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17" y="29974"/>
            <a:ext cx="1723219" cy="172321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8326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736326" y="103565"/>
            <a:ext cx="10770124" cy="862336"/>
          </a:xfrm>
        </p:spPr>
        <p:txBody>
          <a:bodyPr>
            <a:normAutofit fontScale="90000"/>
          </a:bodyPr>
          <a:lstStyle/>
          <a:p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(4)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Forthcoming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validation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study</a:t>
            </a:r>
            <a:b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</a:br>
            <a:endParaRPr lang="de-DE" sz="36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FAADB8-E59F-4642-97DD-59E692E0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5306" y="1036866"/>
            <a:ext cx="6941409" cy="430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</a:rPr>
              <a:t>Validation </a:t>
            </a:r>
            <a:r>
              <a:rPr lang="en-US" sz="1800" dirty="0"/>
              <a:t>of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800" dirty="0"/>
              <a:t>the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800" dirty="0"/>
              <a:t>“Ethics Scale of Technology Assessment”</a:t>
            </a:r>
            <a:endParaRPr lang="de-DE" sz="1800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4504" y="616453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34010B6-E066-D5D0-B67C-E8477405A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8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4CA66D0-95C3-4E81-BC5B-BD244FF2CA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37" y="103564"/>
            <a:ext cx="2217262" cy="6481123"/>
          </a:xfrm>
          <a:prstGeom prst="rect">
            <a:avLst/>
          </a:prstGeom>
        </p:spPr>
      </p:pic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9E6B628D-1530-4354-803E-C8E1CB610C43}"/>
              </a:ext>
            </a:extLst>
          </p:cNvPr>
          <p:cNvCxnSpPr>
            <a:cxnSpLocks/>
          </p:cNvCxnSpPr>
          <p:nvPr/>
        </p:nvCxnSpPr>
        <p:spPr>
          <a:xfrm flipV="1">
            <a:off x="2590800" y="2958139"/>
            <a:ext cx="1912620" cy="933041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krümmt 14">
            <a:extLst>
              <a:ext uri="{FF2B5EF4-FFF2-40B4-BE49-F238E27FC236}">
                <a16:creationId xmlns:a16="http://schemas.microsoft.com/office/drawing/2014/main" id="{72A3F80B-7053-45B0-9B98-52E1F7CE3BFA}"/>
              </a:ext>
            </a:extLst>
          </p:cNvPr>
          <p:cNvCxnSpPr>
            <a:cxnSpLocks/>
          </p:cNvCxnSpPr>
          <p:nvPr/>
        </p:nvCxnSpPr>
        <p:spPr>
          <a:xfrm flipV="1">
            <a:off x="2590800" y="4292363"/>
            <a:ext cx="1912620" cy="161414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krümmt 15">
            <a:extLst>
              <a:ext uri="{FF2B5EF4-FFF2-40B4-BE49-F238E27FC236}">
                <a16:creationId xmlns:a16="http://schemas.microsoft.com/office/drawing/2014/main" id="{BFC22A80-DF90-484D-BF2F-7502760F594F}"/>
              </a:ext>
            </a:extLst>
          </p:cNvPr>
          <p:cNvCxnSpPr>
            <a:cxnSpLocks/>
          </p:cNvCxnSpPr>
          <p:nvPr/>
        </p:nvCxnSpPr>
        <p:spPr>
          <a:xfrm flipV="1">
            <a:off x="2590800" y="1753194"/>
            <a:ext cx="1965960" cy="20191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31C58A9D-93F1-4AC6-8138-85DD99D5368C}"/>
              </a:ext>
            </a:extLst>
          </p:cNvPr>
          <p:cNvSpPr txBox="1"/>
          <p:nvPr/>
        </p:nvSpPr>
        <p:spPr>
          <a:xfrm>
            <a:off x="4556759" y="1576039"/>
            <a:ext cx="41579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Study 1: Item generation and item review</a:t>
            </a:r>
          </a:p>
          <a:p>
            <a:r>
              <a:rPr lang="de-DE" dirty="0"/>
              <a:t>&gt;</a:t>
            </a:r>
            <a:r>
              <a:rPr lang="en-US" dirty="0"/>
              <a:t> Pretest developed items qualitatively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89FD311-EDCB-4271-98FB-5D17012CC8CE}"/>
              </a:ext>
            </a:extLst>
          </p:cNvPr>
          <p:cNvSpPr txBox="1"/>
          <p:nvPr/>
        </p:nvSpPr>
        <p:spPr>
          <a:xfrm>
            <a:off x="4556760" y="2735258"/>
            <a:ext cx="4591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Study 2: Examining dimensionality</a:t>
            </a:r>
          </a:p>
          <a:p>
            <a:r>
              <a:rPr lang="de-DE" dirty="0"/>
              <a:t>&gt;</a:t>
            </a:r>
            <a:r>
              <a:rPr lang="en-US" dirty="0"/>
              <a:t> Get dimensionality of scale, scale purification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5F4FFF4-A899-46DE-8370-F7C0213456F0}"/>
              </a:ext>
            </a:extLst>
          </p:cNvPr>
          <p:cNvSpPr txBox="1"/>
          <p:nvPr/>
        </p:nvSpPr>
        <p:spPr>
          <a:xfrm>
            <a:off x="4556759" y="4079911"/>
            <a:ext cx="39476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Study 3: Examining the </a:t>
            </a:r>
            <a:r>
              <a:rPr lang="en-US" i="1" dirty="0"/>
              <a:t>nomological net</a:t>
            </a:r>
          </a:p>
          <a:p>
            <a:r>
              <a:rPr lang="de-DE" dirty="0"/>
              <a:t>&gt;</a:t>
            </a:r>
            <a:r>
              <a:rPr lang="en-US" dirty="0"/>
              <a:t> Determine construct validity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4B16EBE-B542-4703-919E-A66E3CF38E68}"/>
              </a:ext>
            </a:extLst>
          </p:cNvPr>
          <p:cNvSpPr txBox="1"/>
          <p:nvPr/>
        </p:nvSpPr>
        <p:spPr>
          <a:xfrm>
            <a:off x="3772606" y="5506396"/>
            <a:ext cx="7725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Fenn, J., </a:t>
            </a:r>
            <a:r>
              <a:rPr lang="de-DE" sz="1000" dirty="0" err="1"/>
              <a:t>Höfele</a:t>
            </a:r>
            <a:r>
              <a:rPr lang="de-DE" sz="1000" dirty="0"/>
              <a:t>, P., Gros, W., Helm, J., </a:t>
            </a:r>
            <a:r>
              <a:rPr lang="en-US" sz="1000" dirty="0"/>
              <a:t>Müller, O. &amp; </a:t>
            </a:r>
            <a:r>
              <a:rPr lang="en-US" sz="1000" dirty="0" err="1"/>
              <a:t>Kiesel</a:t>
            </a:r>
            <a:r>
              <a:rPr lang="en-US" sz="1000" dirty="0"/>
              <a:t>, A. (in prep.). The Ethics Scale of Technology Assessment: Validation of a Measure for the Empirical Assessment of Emerging Technologies.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EE0CC2AE-452F-4DFB-88C9-19AD3EE1F8A2}"/>
              </a:ext>
            </a:extLst>
          </p:cNvPr>
          <p:cNvSpPr txBox="1"/>
          <p:nvPr/>
        </p:nvSpPr>
        <p:spPr>
          <a:xfrm>
            <a:off x="726516" y="6446188"/>
            <a:ext cx="1667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Figure 1 </a:t>
            </a:r>
            <a:r>
              <a:rPr lang="de-DE" sz="1000" dirty="0" err="1"/>
              <a:t>from</a:t>
            </a:r>
            <a:r>
              <a:rPr lang="de-DE" sz="1000" dirty="0"/>
              <a:t> Boateng et al., 2018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94070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7B19591-6962-131B-271D-7563DBF5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17" y="29974"/>
            <a:ext cx="1723219" cy="172321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8326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323628"/>
            <a:ext cx="10770124" cy="862336"/>
          </a:xfrm>
        </p:spPr>
        <p:txBody>
          <a:bodyPr>
            <a:normAutofit fontScale="90000"/>
          </a:bodyPr>
          <a:lstStyle/>
          <a:p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(5) Statistical </a:t>
            </a:r>
            <a:r>
              <a:rPr lang="en-US" sz="3600" b="1" i="1" dirty="0">
                <a:solidFill>
                  <a:schemeClr val="accent6">
                    <a:lumMod val="50000"/>
                  </a:schemeClr>
                </a:solidFill>
              </a:rPr>
              <a:t>opportunities: collecting data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br>
              <a:rPr lang="de-DE" sz="3600" dirty="0"/>
            </a:br>
            <a:endParaRPr lang="de-DE" sz="36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FAADB8-E59F-4642-97DD-59E692E0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462" y="1322751"/>
            <a:ext cx="10515600" cy="4923101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</a:rPr>
              <a:t>Possible study design:</a:t>
            </a:r>
            <a:endParaRPr lang="en-US" sz="1800" dirty="0">
              <a:latin typeface="Aller" panose="02000503030000020004" pitchFamily="2" charset="77"/>
            </a:endParaRPr>
          </a:p>
          <a:p>
            <a:pPr marL="342900" indent="-342900">
              <a:lnSpc>
                <a:spcPct val="140000"/>
              </a:lnSpc>
              <a:buAutoNum type="arabicParenR"/>
            </a:pPr>
            <a:r>
              <a:rPr lang="en-US" sz="1800" dirty="0">
                <a:latin typeface="Aller" panose="02000503030000020004" pitchFamily="2" charset="77"/>
              </a:rPr>
              <a:t>A scenario-text is presented  to the participants</a:t>
            </a:r>
          </a:p>
          <a:p>
            <a:pPr marL="342900" indent="-342900">
              <a:lnSpc>
                <a:spcPct val="140000"/>
              </a:lnSpc>
              <a:buAutoNum type="arabicParenR"/>
            </a:pPr>
            <a:r>
              <a:rPr lang="en-US" sz="1800" dirty="0">
                <a:latin typeface="Aller" panose="02000503030000020004" pitchFamily="2" charset="77"/>
              </a:rPr>
              <a:t>Afterwards they will answer the </a:t>
            </a:r>
            <a:r>
              <a:rPr lang="en-US" sz="1800" dirty="0"/>
              <a:t>“Ethics Scale of Technology Assessment” (and additional questions)</a:t>
            </a:r>
            <a:endParaRPr lang="en-US" sz="1800" dirty="0">
              <a:latin typeface="Aller" panose="02000503030000020004" pitchFamily="2" charset="77"/>
            </a:endParaRPr>
          </a:p>
          <a:p>
            <a:pPr marL="0" indent="0" algn="l">
              <a:buNone/>
            </a:pPr>
            <a:endParaRPr lang="en-US" sz="1800" b="0" i="0" u="none" strike="noStrike" baseline="0" dirty="0">
              <a:latin typeface="ArialMT"/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4504" y="616453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FB1B6B6-DEA2-058D-C331-CD2698D0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9</a:t>
            </a:fld>
            <a:endParaRPr lang="de-DE"/>
          </a:p>
        </p:txBody>
      </p:sp>
      <p:grpSp>
        <p:nvGrpSpPr>
          <p:cNvPr id="11" name="Group 73">
            <a:extLst>
              <a:ext uri="{FF2B5EF4-FFF2-40B4-BE49-F238E27FC236}">
                <a16:creationId xmlns:a16="http://schemas.microsoft.com/office/drawing/2014/main" id="{F91E08F5-4560-4455-A153-68A3E61CE03B}"/>
              </a:ext>
            </a:extLst>
          </p:cNvPr>
          <p:cNvGrpSpPr/>
          <p:nvPr/>
        </p:nvGrpSpPr>
        <p:grpSpPr>
          <a:xfrm>
            <a:off x="725189" y="3163158"/>
            <a:ext cx="2254944" cy="2836734"/>
            <a:chOff x="132128" y="1293384"/>
            <a:chExt cx="2890332" cy="3665316"/>
          </a:xfrm>
        </p:grpSpPr>
        <p:pic>
          <p:nvPicPr>
            <p:cNvPr id="12" name="Picture 2" descr="Scenario - Free business icons">
              <a:extLst>
                <a:ext uri="{FF2B5EF4-FFF2-40B4-BE49-F238E27FC236}">
                  <a16:creationId xmlns:a16="http://schemas.microsoft.com/office/drawing/2014/main" id="{F4F88D90-9E35-4D69-8353-669F634114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200" y="2618440"/>
              <a:ext cx="2340260" cy="23402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Sun Icon in PNG, ICO oder ICNS | Kostenlose Vektor Icons">
              <a:extLst>
                <a:ext uri="{FF2B5EF4-FFF2-40B4-BE49-F238E27FC236}">
                  <a16:creationId xmlns:a16="http://schemas.microsoft.com/office/drawing/2014/main" id="{53D9F126-D376-4A9E-B847-01187C75FC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128" y="1293384"/>
              <a:ext cx="1559552" cy="15595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6">
            <a:extLst>
              <a:ext uri="{FF2B5EF4-FFF2-40B4-BE49-F238E27FC236}">
                <a16:creationId xmlns:a16="http://schemas.microsoft.com/office/drawing/2014/main" id="{B729111B-4151-4603-A6B1-364F67AB4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1748" y="3051281"/>
            <a:ext cx="3060487" cy="306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CDFAF022-ED92-4E2D-BCA0-B0CE7309F86A}"/>
              </a:ext>
            </a:extLst>
          </p:cNvPr>
          <p:cNvCxnSpPr>
            <a:cxnSpLocks/>
          </p:cNvCxnSpPr>
          <p:nvPr/>
        </p:nvCxnSpPr>
        <p:spPr>
          <a:xfrm>
            <a:off x="3093143" y="4581525"/>
            <a:ext cx="28755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128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7B19591-6962-131B-271D-7563DBF5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17" y="29974"/>
            <a:ext cx="1723219" cy="172321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8326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334042"/>
            <a:ext cx="10770124" cy="862336"/>
          </a:xfrm>
        </p:spPr>
        <p:txBody>
          <a:bodyPr>
            <a:normAutofit fontScale="90000"/>
          </a:bodyPr>
          <a:lstStyle/>
          <a:p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(5) Statistical </a:t>
            </a:r>
            <a:r>
              <a:rPr lang="en-US" sz="3600" b="1" i="1" dirty="0">
                <a:solidFill>
                  <a:schemeClr val="accent6">
                    <a:lumMod val="50000"/>
                  </a:schemeClr>
                </a:solidFill>
              </a:rPr>
              <a:t>opportunities: latent variable models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br>
              <a:rPr lang="de-DE" sz="3600" dirty="0"/>
            </a:br>
            <a:endParaRPr lang="de-DE" sz="36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593E269-64EA-418D-A41A-E75E1594F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863285" y="4691961"/>
            <a:ext cx="4804804" cy="142995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24504" y="616453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FB1B6B6-DEA2-058D-C331-CD2698D0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10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892A9CB-53BD-4045-ADAD-5CE90EE031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1701" y="1635612"/>
            <a:ext cx="2488224" cy="2656239"/>
          </a:xfrm>
          <a:prstGeom prst="rect">
            <a:avLst/>
          </a:prstGeom>
        </p:spPr>
      </p:pic>
      <p:sp>
        <p:nvSpPr>
          <p:cNvPr id="13" name="Inhaltsplatzhalter 5">
            <a:extLst>
              <a:ext uri="{FF2B5EF4-FFF2-40B4-BE49-F238E27FC236}">
                <a16:creationId xmlns:a16="http://schemas.microsoft.com/office/drawing/2014/main" id="{D6FF73B8-68E2-4B83-912E-9F7FCF321EBA}"/>
              </a:ext>
            </a:extLst>
          </p:cNvPr>
          <p:cNvSpPr txBox="1">
            <a:spLocks/>
          </p:cNvSpPr>
          <p:nvPr/>
        </p:nvSpPr>
        <p:spPr>
          <a:xfrm>
            <a:off x="583675" y="5743425"/>
            <a:ext cx="4932511" cy="780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&gt; we can apply the framework of </a:t>
            </a:r>
            <a:r>
              <a:rPr lang="en-US" sz="1800" i="1" dirty="0"/>
              <a:t>latent variable models</a:t>
            </a:r>
          </a:p>
          <a:p>
            <a:pPr marL="0" indent="0">
              <a:buNone/>
            </a:pPr>
            <a:endParaRPr lang="de-DE" sz="1800" dirty="0"/>
          </a:p>
        </p:txBody>
      </p:sp>
      <p:cxnSp>
        <p:nvCxnSpPr>
          <p:cNvPr id="11" name="Verbinder: gewinkelt 10">
            <a:extLst>
              <a:ext uri="{FF2B5EF4-FFF2-40B4-BE49-F238E27FC236}">
                <a16:creationId xmlns:a16="http://schemas.microsoft.com/office/drawing/2014/main" id="{47991FEC-C7F1-4B9F-A845-4E514412A4C2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10919" y="2289213"/>
            <a:ext cx="4049576" cy="2880212"/>
          </a:xfrm>
          <a:prstGeom prst="bentConnector3">
            <a:avLst>
              <a:gd name="adj1" fmla="val 9986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Inhaltsplatzhalter 5">
            <a:extLst>
              <a:ext uri="{FF2B5EF4-FFF2-40B4-BE49-F238E27FC236}">
                <a16:creationId xmlns:a16="http://schemas.microsoft.com/office/drawing/2014/main" id="{3A67D952-FA37-41C1-8EE9-6B65200A325D}"/>
              </a:ext>
            </a:extLst>
          </p:cNvPr>
          <p:cNvSpPr txBox="1">
            <a:spLocks/>
          </p:cNvSpPr>
          <p:nvPr/>
        </p:nvSpPr>
        <p:spPr>
          <a:xfrm>
            <a:off x="1093875" y="1103893"/>
            <a:ext cx="8453557" cy="753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</a:rPr>
              <a:t>Reflexive measurement model </a:t>
            </a:r>
            <a:r>
              <a:rPr lang="en-US" sz="1800" dirty="0"/>
              <a:t>assumes that the answer to the questions of a construct </a:t>
            </a:r>
            <a:r>
              <a:rPr lang="el-GR" sz="1800" dirty="0"/>
              <a:t>η</a:t>
            </a:r>
            <a:r>
              <a:rPr lang="en-US" sz="1800" dirty="0"/>
              <a:t> (like Hedonism) are considered to be caused by that construct</a:t>
            </a:r>
            <a:endParaRPr lang="de-DE" sz="18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4DBB71A-DB44-4016-9AC9-B54D87C49D4E}"/>
              </a:ext>
            </a:extLst>
          </p:cNvPr>
          <p:cNvSpPr txBox="1"/>
          <p:nvPr/>
        </p:nvSpPr>
        <p:spPr>
          <a:xfrm>
            <a:off x="4492365" y="4291851"/>
            <a:ext cx="308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Figure 1 </a:t>
            </a:r>
            <a:r>
              <a:rPr lang="de-DE" sz="1000" dirty="0" err="1"/>
              <a:t>from</a:t>
            </a:r>
            <a:r>
              <a:rPr lang="de-DE" sz="1000" dirty="0"/>
              <a:t> </a:t>
            </a:r>
            <a:r>
              <a:rPr lang="de-DE" sz="1000" dirty="0" err="1"/>
              <a:t>Skrondal</a:t>
            </a:r>
            <a:r>
              <a:rPr lang="de-DE" sz="1000" dirty="0"/>
              <a:t> &amp; Rabe-</a:t>
            </a:r>
            <a:r>
              <a:rPr lang="de-DE" sz="1000" dirty="0" err="1"/>
              <a:t>Hesketh</a:t>
            </a:r>
            <a:r>
              <a:rPr lang="de-DE" sz="1000" dirty="0"/>
              <a:t>, 2007</a:t>
            </a:r>
            <a:endParaRPr lang="en-US" sz="100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874F625-F2C4-458C-A853-405BD5EC5A8E}"/>
              </a:ext>
            </a:extLst>
          </p:cNvPr>
          <p:cNvSpPr txBox="1"/>
          <p:nvPr/>
        </p:nvSpPr>
        <p:spPr>
          <a:xfrm>
            <a:off x="5770710" y="6079784"/>
            <a:ext cx="34685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Table 1 </a:t>
            </a:r>
            <a:r>
              <a:rPr lang="de-DE" sz="1000" dirty="0" err="1"/>
              <a:t>from</a:t>
            </a:r>
            <a:r>
              <a:rPr lang="de-DE" sz="1000" dirty="0"/>
              <a:t> </a:t>
            </a:r>
            <a:r>
              <a:rPr lang="de-DE" sz="1000" dirty="0" err="1"/>
              <a:t>Skrondal</a:t>
            </a:r>
            <a:r>
              <a:rPr lang="de-DE" sz="1000" dirty="0"/>
              <a:t> &amp; Rabe-</a:t>
            </a:r>
            <a:r>
              <a:rPr lang="de-DE" sz="1000" dirty="0" err="1"/>
              <a:t>Hesketh</a:t>
            </a:r>
            <a:r>
              <a:rPr lang="de-DE" sz="1000" dirty="0"/>
              <a:t>, 2007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78011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7B19591-6962-131B-271D-7563DBF5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17" y="29974"/>
            <a:ext cx="1723219" cy="172321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8326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80979"/>
            <a:ext cx="10770124" cy="862336"/>
          </a:xfrm>
        </p:spPr>
        <p:txBody>
          <a:bodyPr>
            <a:normAutofit/>
          </a:bodyPr>
          <a:lstStyle/>
          <a:p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(5.1)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mean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comparison</a:t>
            </a:r>
            <a:endParaRPr lang="de-DE" sz="36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FAADB8-E59F-4642-97DD-59E692E0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462" y="1154405"/>
            <a:ext cx="8188063" cy="14363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>
                <a:latin typeface="ArialMT"/>
              </a:rPr>
              <a:t>Are there significant mean differences in the ethical evaluation of technologies between laypersons vs. experts?</a:t>
            </a:r>
          </a:p>
          <a:p>
            <a:pPr marL="0" indent="0">
              <a:buNone/>
            </a:pPr>
            <a:endParaRPr lang="en-US" sz="1800" dirty="0">
              <a:latin typeface="ArialMT"/>
            </a:endParaRPr>
          </a:p>
          <a:p>
            <a:pPr marL="0" indent="0">
              <a:buNone/>
            </a:pPr>
            <a:r>
              <a:rPr lang="en-US" sz="1800" dirty="0">
                <a:latin typeface="ArialMT"/>
              </a:rPr>
              <a:t>Test for mean differences* between </a:t>
            </a:r>
            <a:r>
              <a:rPr lang="en-US" sz="1800" dirty="0"/>
              <a:t>different stakeholder groups: </a:t>
            </a:r>
            <a:r>
              <a:rPr lang="en-US" sz="1800" dirty="0">
                <a:latin typeface="ArialMT"/>
              </a:rPr>
              <a:t> </a:t>
            </a:r>
            <a:endParaRPr lang="en-US" sz="1800" b="0" i="0" u="none" strike="noStrike" baseline="0" dirty="0">
              <a:latin typeface="ArialMT"/>
            </a:endParaRPr>
          </a:p>
          <a:p>
            <a:pPr marL="0" indent="0" algn="l">
              <a:buNone/>
            </a:pPr>
            <a:endParaRPr lang="en-US" sz="1800" b="0" i="0" u="none" strike="noStrike" baseline="0" dirty="0">
              <a:latin typeface="ArialMT"/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4504" y="616453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FB1B6B6-DEA2-058D-C331-CD2698D0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11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3038E22-D429-4ED5-9C28-81AB113084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8999" y="2403831"/>
            <a:ext cx="6180988" cy="3767071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2F8AD991-C2F0-4426-97DE-4327AB2973EF}"/>
              </a:ext>
            </a:extLst>
          </p:cNvPr>
          <p:cNvSpPr txBox="1"/>
          <p:nvPr/>
        </p:nvSpPr>
        <p:spPr>
          <a:xfrm>
            <a:off x="8610600" y="5845277"/>
            <a:ext cx="3060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 precondition: (partial) scalar measurement invariance</a:t>
            </a:r>
          </a:p>
        </p:txBody>
      </p:sp>
    </p:spTree>
    <p:extLst>
      <p:ext uri="{BB962C8B-B14F-4D97-AF65-F5344CB8AC3E}">
        <p14:creationId xmlns:p14="http://schemas.microsoft.com/office/powerpoint/2010/main" val="2363429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7B19591-6962-131B-271D-7563DBF5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17" y="29974"/>
            <a:ext cx="1723219" cy="172321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8326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80979"/>
            <a:ext cx="10770124" cy="862336"/>
          </a:xfrm>
        </p:spPr>
        <p:txBody>
          <a:bodyPr>
            <a:normAutofit/>
          </a:bodyPr>
          <a:lstStyle/>
          <a:p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(5.2) latent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class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analyis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/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cluster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analysis</a:t>
            </a:r>
            <a:endParaRPr lang="de-DE" sz="36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FAADB8-E59F-4642-97DD-59E692E0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462" y="1154405"/>
            <a:ext cx="10515600" cy="5091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>
                <a:latin typeface="ArialMT"/>
              </a:rPr>
              <a:t>Are technologies ethically evaluated differently by participants (or laypersons vs. experts)?</a:t>
            </a:r>
            <a:endParaRPr lang="en-US" sz="1800" dirty="0">
              <a:latin typeface="ArialMT"/>
            </a:endParaRPr>
          </a:p>
          <a:p>
            <a:pPr marL="0" indent="0">
              <a:buNone/>
            </a:pPr>
            <a:endParaRPr lang="en-US" sz="1800" dirty="0">
              <a:latin typeface="ArialMT"/>
            </a:endParaRPr>
          </a:p>
          <a:p>
            <a:pPr marL="0" indent="0">
              <a:buNone/>
            </a:pPr>
            <a:r>
              <a:rPr lang="en-US" sz="1800" dirty="0">
                <a:latin typeface="ArialMT"/>
              </a:rPr>
              <a:t>Apply latent class analysis or cluster analysis (like </a:t>
            </a:r>
            <a:r>
              <a:rPr lang="de-DE" sz="1800" dirty="0">
                <a:latin typeface="ArialMT"/>
              </a:rPr>
              <a:t>k-</a:t>
            </a:r>
            <a:r>
              <a:rPr lang="de-DE" sz="1800" dirty="0" err="1">
                <a:latin typeface="ArialMT"/>
              </a:rPr>
              <a:t>means</a:t>
            </a:r>
            <a:r>
              <a:rPr lang="de-DE" sz="1800" dirty="0">
                <a:latin typeface="ArialMT"/>
              </a:rPr>
              <a:t> </a:t>
            </a:r>
            <a:r>
              <a:rPr lang="de-DE" sz="1800" dirty="0" err="1">
                <a:latin typeface="ArialMT"/>
              </a:rPr>
              <a:t>clustering</a:t>
            </a:r>
            <a:r>
              <a:rPr lang="de-DE" sz="1800" dirty="0">
                <a:latin typeface="ArialMT"/>
              </a:rPr>
              <a:t>)</a:t>
            </a:r>
            <a:endParaRPr lang="en-US" sz="1800" dirty="0">
              <a:latin typeface="ArialMT"/>
            </a:endParaRPr>
          </a:p>
          <a:p>
            <a:pPr marL="0" indent="0" algn="l">
              <a:buNone/>
            </a:pPr>
            <a:endParaRPr lang="en-US" sz="1800" b="0" i="0" u="none" strike="noStrike" baseline="0" dirty="0">
              <a:latin typeface="ArialMT"/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4504" y="616453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FB1B6B6-DEA2-058D-C331-CD2698D0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12</a:t>
            </a:fld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9D9041DA-166B-4C50-875A-C31B778349E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69" y="2670855"/>
            <a:ext cx="5036043" cy="3519187"/>
          </a:xfrm>
          <a:prstGeom prst="rect">
            <a:avLst/>
          </a:prstGeom>
        </p:spPr>
      </p:pic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03D9A22F-4F80-495C-9FD5-961566086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170695"/>
              </p:ext>
            </p:extLst>
          </p:nvPr>
        </p:nvGraphicFramePr>
        <p:xfrm>
          <a:off x="5618584" y="2392972"/>
          <a:ext cx="5989746" cy="4001375"/>
        </p:xfrm>
        <a:graphic>
          <a:graphicData uri="http://schemas.openxmlformats.org/drawingml/2006/table">
            <a:tbl>
              <a:tblPr/>
              <a:tblGrid>
                <a:gridCol w="888228">
                  <a:extLst>
                    <a:ext uri="{9D8B030D-6E8A-4147-A177-3AD203B41FA5}">
                      <a16:colId xmlns:a16="http://schemas.microsoft.com/office/drawing/2014/main" val="2980866732"/>
                    </a:ext>
                  </a:extLst>
                </a:gridCol>
                <a:gridCol w="660378">
                  <a:extLst>
                    <a:ext uri="{9D8B030D-6E8A-4147-A177-3AD203B41FA5}">
                      <a16:colId xmlns:a16="http://schemas.microsoft.com/office/drawing/2014/main" val="1191777889"/>
                    </a:ext>
                  </a:extLst>
                </a:gridCol>
                <a:gridCol w="888228">
                  <a:extLst>
                    <a:ext uri="{9D8B030D-6E8A-4147-A177-3AD203B41FA5}">
                      <a16:colId xmlns:a16="http://schemas.microsoft.com/office/drawing/2014/main" val="1684997800"/>
                    </a:ext>
                  </a:extLst>
                </a:gridCol>
                <a:gridCol w="888228">
                  <a:extLst>
                    <a:ext uri="{9D8B030D-6E8A-4147-A177-3AD203B41FA5}">
                      <a16:colId xmlns:a16="http://schemas.microsoft.com/office/drawing/2014/main" val="957055119"/>
                    </a:ext>
                  </a:extLst>
                </a:gridCol>
                <a:gridCol w="888228">
                  <a:extLst>
                    <a:ext uri="{9D8B030D-6E8A-4147-A177-3AD203B41FA5}">
                      <a16:colId xmlns:a16="http://schemas.microsoft.com/office/drawing/2014/main" val="2158091787"/>
                    </a:ext>
                  </a:extLst>
                </a:gridCol>
                <a:gridCol w="888228">
                  <a:extLst>
                    <a:ext uri="{9D8B030D-6E8A-4147-A177-3AD203B41FA5}">
                      <a16:colId xmlns:a16="http://schemas.microsoft.com/office/drawing/2014/main" val="2178778367"/>
                    </a:ext>
                  </a:extLst>
                </a:gridCol>
                <a:gridCol w="888228">
                  <a:extLst>
                    <a:ext uri="{9D8B030D-6E8A-4147-A177-3AD203B41FA5}">
                      <a16:colId xmlns:a16="http://schemas.microsoft.com/office/drawing/2014/main" val="3651642440"/>
                    </a:ext>
                  </a:extLst>
                </a:gridCol>
              </a:tblGrid>
              <a:tr h="432581">
                <a:tc gridSpan="7">
                  <a:txBody>
                    <a:bodyPr/>
                    <a:lstStyle/>
                    <a:p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968272"/>
                  </a:ext>
                </a:extLst>
              </a:tr>
              <a:tr h="1405889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effectLst/>
                        </a:rPr>
                        <a:t>Cluster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Relativism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 err="1"/>
                        <a:t>Contractualism</a:t>
                      </a:r>
                      <a:endParaRPr lang="en-US" sz="11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Utilitarianism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Deontology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Virtue ethics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Hedonism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920051"/>
                  </a:ext>
                </a:extLst>
              </a:tr>
              <a:tr h="432581">
                <a:tc gridSpan="7">
                  <a:txBody>
                    <a:bodyPr/>
                    <a:lstStyle/>
                    <a:p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886834"/>
                  </a:ext>
                </a:extLst>
              </a:tr>
              <a:tr h="432581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896505"/>
                  </a:ext>
                </a:extLst>
              </a:tr>
              <a:tr h="432581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3.79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4.71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4.36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599484"/>
                  </a:ext>
                </a:extLst>
              </a:tr>
              <a:tr h="432581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5.22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5.29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5.77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5.43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5.39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728502"/>
                  </a:ext>
                </a:extLst>
              </a:tr>
              <a:tr h="432581">
                <a:tc gridSpan="7">
                  <a:txBody>
                    <a:bodyPr/>
                    <a:lstStyle/>
                    <a:p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56770"/>
                  </a:ext>
                </a:extLst>
              </a:tr>
            </a:tbl>
          </a:graphicData>
        </a:graphic>
      </p:graphicFrame>
      <p:pic>
        <p:nvPicPr>
          <p:cNvPr id="17" name="Grafik 16">
            <a:extLst>
              <a:ext uri="{FF2B5EF4-FFF2-40B4-BE49-F238E27FC236}">
                <a16:creationId xmlns:a16="http://schemas.microsoft.com/office/drawing/2014/main" id="{2D425A85-FB06-48F4-9140-FD5E102E2DD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504" y="1583740"/>
            <a:ext cx="1571180" cy="104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52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7B19591-6962-131B-271D-7563DBF5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17" y="29974"/>
            <a:ext cx="1723219" cy="172321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8326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80979"/>
            <a:ext cx="10770124" cy="862336"/>
          </a:xfrm>
        </p:spPr>
        <p:txBody>
          <a:bodyPr>
            <a:normAutofit/>
          </a:bodyPr>
          <a:lstStyle/>
          <a:p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(5.3)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structural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equation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model</a:t>
            </a:r>
            <a:endParaRPr lang="de-DE" sz="36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FAADB8-E59F-4642-97DD-59E692E0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462" y="1154405"/>
            <a:ext cx="10515600" cy="5091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>
                <a:latin typeface="ArialMT"/>
              </a:rPr>
              <a:t>What is the effect of the ethical evaluation of a technology on its acceptability?</a:t>
            </a:r>
          </a:p>
          <a:p>
            <a:pPr marL="0" indent="0">
              <a:buNone/>
            </a:pPr>
            <a:endParaRPr lang="en-US" sz="1800" dirty="0">
              <a:latin typeface="ArialMT"/>
            </a:endParaRPr>
          </a:p>
          <a:p>
            <a:pPr marL="0" indent="0">
              <a:buNone/>
            </a:pPr>
            <a:r>
              <a:rPr lang="en-US" sz="1800" dirty="0">
                <a:latin typeface="ArialMT"/>
              </a:rPr>
              <a:t>Test the direct and indirect effects on pre-assumed causal relationships:</a:t>
            </a:r>
            <a:endParaRPr lang="en-US" sz="1800" b="0" i="0" u="none" strike="noStrike" baseline="0" dirty="0">
              <a:latin typeface="ArialMT"/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4504" y="616453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FB1B6B6-DEA2-058D-C331-CD2698D0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13</a:t>
            </a:fld>
            <a:endParaRPr lang="de-DE"/>
          </a:p>
        </p:txBody>
      </p:sp>
      <p:pic>
        <p:nvPicPr>
          <p:cNvPr id="13" name="Picture 62" descr="Diagram&#10;&#10;Description automatically generated">
            <a:extLst>
              <a:ext uri="{FF2B5EF4-FFF2-40B4-BE49-F238E27FC236}">
                <a16:creationId xmlns:a16="http://schemas.microsoft.com/office/drawing/2014/main" id="{B07BAAD7-2CD3-4C60-903D-52BB64BC34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2707" y="2454710"/>
            <a:ext cx="7112061" cy="3620051"/>
          </a:xfrm>
          <a:prstGeom prst="rect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71164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7B19591-6962-131B-271D-7563DBF5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17" y="29974"/>
            <a:ext cx="1723219" cy="172321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8326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80979"/>
            <a:ext cx="10770124" cy="862336"/>
          </a:xfrm>
        </p:spPr>
        <p:txBody>
          <a:bodyPr>
            <a:normAutofit/>
          </a:bodyPr>
          <a:lstStyle/>
          <a:p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(5.3)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ethic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predict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acceptability</a:t>
            </a:r>
            <a:endParaRPr lang="de-DE" sz="36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FAADB8-E59F-4642-97DD-59E692E0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462" y="1322751"/>
            <a:ext cx="10515600" cy="4923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conceptualize ESTA as </a:t>
            </a:r>
            <a:r>
              <a:rPr lang="en-US" i="1" dirty="0"/>
              <a:t>the degree respondents believe a technology is morally acceptable regarding multiple ethical </a:t>
            </a:r>
            <a:r>
              <a:rPr lang="de-DE" dirty="0"/>
              <a:t> </a:t>
            </a:r>
            <a:r>
              <a:rPr lang="en-US" i="1" dirty="0"/>
              <a:t>theories</a:t>
            </a:r>
            <a:endParaRPr lang="en-US" sz="1800" b="0" i="0" u="none" strike="noStrike" baseline="0" dirty="0">
              <a:latin typeface="ArialMT"/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4504" y="616453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FB1B6B6-DEA2-058D-C331-CD2698D0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14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C1B98A9-2899-4393-93FE-5E4A5F6991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7782" y="2597716"/>
            <a:ext cx="8910959" cy="3703385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2F7DFCE7-223E-4BF7-ABF9-B51C89484996}"/>
              </a:ext>
            </a:extLst>
          </p:cNvPr>
          <p:cNvSpPr/>
          <p:nvPr/>
        </p:nvSpPr>
        <p:spPr>
          <a:xfrm>
            <a:off x="1767782" y="2488758"/>
            <a:ext cx="1126493" cy="3896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641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7B19591-6962-131B-271D-7563DBF5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17" y="29974"/>
            <a:ext cx="1723219" cy="172321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8326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80979"/>
            <a:ext cx="10770124" cy="862336"/>
          </a:xfrm>
        </p:spPr>
        <p:txBody>
          <a:bodyPr>
            <a:normAutofit/>
          </a:bodyPr>
          <a:lstStyle/>
          <a:p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(6)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Conclusions</a:t>
            </a:r>
            <a:endParaRPr lang="de-DE" sz="36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FAADB8-E59F-4642-97DD-59E692E0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938" y="967449"/>
            <a:ext cx="10515600" cy="492310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The “Ethics Scale of Technology Assessment” allows a highly economic assessment of possible ethical concerns of different stakeholders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only represents a “</a:t>
            </a:r>
            <a:r>
              <a:rPr lang="en-US" b="1" dirty="0"/>
              <a:t>broad early warning system</a:t>
            </a:r>
            <a:r>
              <a:rPr lang="en-US" dirty="0"/>
              <a:t>”, needs to be supplemented by decision analysis, impact analysis or risk assessment, … (Keller et al., 2021)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To the best of our knowledge it is the first</a:t>
            </a:r>
            <a:r>
              <a:rPr lang="de-DE" dirty="0"/>
              <a:t> time possible </a:t>
            </a:r>
            <a:r>
              <a:rPr lang="en-US" dirty="0"/>
              <a:t>to test if technologies are evaluated ethically differently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like iPhones are evaluated more strongly on hedonistic aspects (“the iPhone maximizes my pleasure”) vs. nuclear power plants are evaluated more strongly in a utilitarian perspective (“the nuclear power plant produces more benefits than harm for society”)</a:t>
            </a:r>
            <a:endParaRPr lang="de-DE" sz="1600" dirty="0"/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6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Preliminary results showing the importance of the ethical evaluation on acceptability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4504" y="616453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F470BE7-735B-8495-0E4A-D6D93890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3649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887F8ED5-7B44-3FA1-78BA-62CB76360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9774" y="116833"/>
            <a:ext cx="1664225" cy="1664225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3" y="67930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22188" y="1623562"/>
            <a:ext cx="10770124" cy="428758"/>
          </a:xfrm>
        </p:spPr>
        <p:txBody>
          <a:bodyPr>
            <a:normAutofit/>
          </a:bodyPr>
          <a:lstStyle/>
          <a:p>
            <a:r>
              <a:rPr lang="de-DE" sz="2400" b="1" i="1" dirty="0" err="1">
                <a:solidFill>
                  <a:schemeClr val="accent6">
                    <a:lumMod val="50000"/>
                  </a:schemeClr>
                </a:solidFill>
              </a:rPr>
              <a:t>Bibliography</a:t>
            </a:r>
            <a:endParaRPr lang="de-DE" sz="24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FAADB8-E59F-4642-97DD-59E692E0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188" y="2084715"/>
            <a:ext cx="10515600" cy="4222974"/>
          </a:xfrm>
        </p:spPr>
        <p:txBody>
          <a:bodyPr>
            <a:normAutofit fontScale="92500" lnSpcReduction="10000"/>
          </a:bodyPr>
          <a:lstStyle/>
          <a:p>
            <a:r>
              <a:rPr lang="en-US" sz="1600" dirty="0"/>
              <a:t>Bessette, D. L., Mayer, L. A., </a:t>
            </a:r>
            <a:r>
              <a:rPr lang="en-US" sz="1600" dirty="0" err="1"/>
              <a:t>Cwik</a:t>
            </a:r>
            <a:r>
              <a:rPr lang="en-US" sz="1600" dirty="0"/>
              <a:t>, B., </a:t>
            </a:r>
            <a:r>
              <a:rPr lang="en-US" sz="1600" dirty="0" err="1"/>
              <a:t>Vezér</a:t>
            </a:r>
            <a:r>
              <a:rPr lang="en-US" sz="1600" dirty="0"/>
              <a:t>, M., Keller, K., </a:t>
            </a:r>
            <a:r>
              <a:rPr lang="en-US" sz="1600" dirty="0" err="1"/>
              <a:t>Lempert</a:t>
            </a:r>
            <a:r>
              <a:rPr lang="en-US" sz="1600" dirty="0"/>
              <a:t>, R. J., &amp; </a:t>
            </a:r>
            <a:r>
              <a:rPr lang="en-US" sz="1600" dirty="0" err="1"/>
              <a:t>Tuana</a:t>
            </a:r>
            <a:r>
              <a:rPr lang="en-US" sz="1600" dirty="0"/>
              <a:t>, N. (2017). Building a values‐informed mental model for new </a:t>
            </a:r>
            <a:r>
              <a:rPr lang="en-US" sz="1600" dirty="0" err="1"/>
              <a:t>orleans</a:t>
            </a:r>
            <a:r>
              <a:rPr lang="en-US" sz="1600" dirty="0"/>
              <a:t> climate risk management. </a:t>
            </a:r>
            <a:r>
              <a:rPr lang="en-US" sz="1600" i="1" dirty="0"/>
              <a:t>Risk Analysis</a:t>
            </a:r>
            <a:r>
              <a:rPr lang="en-US" sz="1600" dirty="0"/>
              <a:t>, </a:t>
            </a:r>
            <a:r>
              <a:rPr lang="en-US" sz="1600" i="1" dirty="0"/>
              <a:t>37</a:t>
            </a:r>
            <a:r>
              <a:rPr lang="en-US" sz="1600" dirty="0"/>
              <a:t>(10), 1993-2004.</a:t>
            </a:r>
          </a:p>
          <a:p>
            <a:r>
              <a:rPr lang="en-US" sz="1600" dirty="0"/>
              <a:t>Boateng, G. O., </a:t>
            </a:r>
            <a:r>
              <a:rPr lang="en-US" sz="1600" dirty="0" err="1"/>
              <a:t>Neilands</a:t>
            </a:r>
            <a:r>
              <a:rPr lang="en-US" sz="1600" dirty="0"/>
              <a:t>, T. B., </a:t>
            </a:r>
            <a:r>
              <a:rPr lang="en-US" sz="1600" dirty="0" err="1"/>
              <a:t>Frongillo</a:t>
            </a:r>
            <a:r>
              <a:rPr lang="en-US" sz="1600" dirty="0"/>
              <a:t>, E. A., </a:t>
            </a:r>
            <a:r>
              <a:rPr lang="en-US" sz="1600" dirty="0" err="1"/>
              <a:t>Melgar-Quiñonez</a:t>
            </a:r>
            <a:r>
              <a:rPr lang="en-US" sz="1600" dirty="0"/>
              <a:t>, H. R., &amp; Young, S. L. (2018). Best Practices for Developing and Validating Scales for Health, Social, and Behavioral Research: A Primer. </a:t>
            </a:r>
            <a:r>
              <a:rPr lang="en-US" sz="1600" i="1" dirty="0"/>
              <a:t>Frontiers in Public Health</a:t>
            </a:r>
            <a:r>
              <a:rPr lang="en-US" sz="1600" dirty="0"/>
              <a:t>, </a:t>
            </a:r>
            <a:r>
              <a:rPr lang="en-US" sz="1600" i="1" dirty="0"/>
              <a:t>6</a:t>
            </a:r>
            <a:r>
              <a:rPr lang="en-US" sz="1600" dirty="0"/>
              <a:t>, 149-149.</a:t>
            </a:r>
          </a:p>
          <a:p>
            <a:r>
              <a:rPr lang="en-US" sz="1600" dirty="0"/>
              <a:t>Fenn, J.*, Höfele P.*, </a:t>
            </a:r>
            <a:r>
              <a:rPr lang="en-US" sz="1600" dirty="0" err="1"/>
              <a:t>Livanec</a:t>
            </a:r>
            <a:r>
              <a:rPr lang="en-US" sz="1600" dirty="0"/>
              <a:t> S., Reuter, L., Müller, O. &amp; </a:t>
            </a:r>
            <a:r>
              <a:rPr lang="en-US" sz="1600" dirty="0" err="1"/>
              <a:t>Kiesel</a:t>
            </a:r>
            <a:r>
              <a:rPr lang="en-US" sz="1600" dirty="0"/>
              <a:t>, A. (in prep.). An Empirical Ethics Scale for Technology Assessment: Challenges and Perspectives for a Real Time Ethics for Emerging Technologies.</a:t>
            </a:r>
          </a:p>
          <a:p>
            <a:r>
              <a:rPr lang="en-US" sz="1600" dirty="0"/>
              <a:t>Keller, K., Helgeson, C., &amp; </a:t>
            </a:r>
            <a:r>
              <a:rPr lang="en-US" sz="1600" dirty="0" err="1"/>
              <a:t>Srikrishnan</a:t>
            </a:r>
            <a:r>
              <a:rPr lang="en-US" sz="1600" dirty="0"/>
              <a:t>, V. (2021). Climate risk management. </a:t>
            </a:r>
            <a:r>
              <a:rPr lang="en-US" sz="1600" i="1" dirty="0"/>
              <a:t>Annual Review of Earth and Planetary Sciences</a:t>
            </a:r>
            <a:r>
              <a:rPr lang="en-US" sz="1600" dirty="0"/>
              <a:t>, </a:t>
            </a:r>
            <a:r>
              <a:rPr lang="en-US" sz="1600" i="1" dirty="0"/>
              <a:t>49</a:t>
            </a:r>
            <a:r>
              <a:rPr lang="en-US" sz="1600" dirty="0"/>
              <a:t>, 95-116.</a:t>
            </a:r>
          </a:p>
          <a:p>
            <a:r>
              <a:rPr lang="en-US" sz="1600" dirty="0" err="1"/>
              <a:t>Möller</a:t>
            </a:r>
            <a:r>
              <a:rPr lang="en-US" sz="1600" dirty="0"/>
              <a:t>, M*, Höfele, P*, </a:t>
            </a:r>
            <a:r>
              <a:rPr lang="en-US" sz="1600" dirty="0" err="1"/>
              <a:t>Kiesel</a:t>
            </a:r>
            <a:r>
              <a:rPr lang="en-US" sz="1600" dirty="0"/>
              <a:t>, A, Speck, O 2021. Reactions of sciences to the Anthropocene: Highlighting inter- and transdisciplinary practices in biomimetics and sustainability research. </a:t>
            </a:r>
            <a:r>
              <a:rPr lang="en-US" sz="1600" i="1" dirty="0"/>
              <a:t>Elem Sci </a:t>
            </a:r>
            <a:r>
              <a:rPr lang="en-US" sz="1600" i="1" dirty="0" err="1"/>
              <a:t>Anth</a:t>
            </a:r>
            <a:r>
              <a:rPr lang="en-US" sz="1600" i="1" dirty="0"/>
              <a:t>, </a:t>
            </a:r>
            <a:r>
              <a:rPr lang="en-US" sz="1600" dirty="0"/>
              <a:t>9: 1. DOI: https://doi.org/10.1525/elementa.2021.03</a:t>
            </a:r>
            <a:r>
              <a:rPr lang="de-DE" sz="1600" dirty="0" err="1"/>
              <a:t>Tuana</a:t>
            </a:r>
            <a:r>
              <a:rPr lang="de-DE" sz="1600" dirty="0"/>
              <a:t> 2019.</a:t>
            </a:r>
          </a:p>
          <a:p>
            <a:r>
              <a:rPr lang="en-US" sz="1600" dirty="0" err="1"/>
              <a:t>Reidenbach</a:t>
            </a:r>
            <a:r>
              <a:rPr lang="en-US" sz="1600" dirty="0"/>
              <a:t>, R. E., &amp; Robin, D. P. 1988. Some initial steps toward improving the measurement of ethical evaluations of marketing activities. </a:t>
            </a:r>
            <a:r>
              <a:rPr lang="en-US" sz="1600" i="1" dirty="0"/>
              <a:t>J Bus Ethics, 7,</a:t>
            </a:r>
            <a:r>
              <a:rPr lang="en-US" sz="1600" dirty="0"/>
              <a:t> 871–879. </a:t>
            </a:r>
            <a:r>
              <a:rPr lang="en-US" sz="1600" dirty="0">
                <a:hlinkClick r:id="rId4"/>
              </a:rPr>
              <a:t>https://doi.org/10.1007/BF00383050</a:t>
            </a:r>
            <a:r>
              <a:rPr lang="en-US" sz="1600" dirty="0"/>
              <a:t>.</a:t>
            </a:r>
          </a:p>
          <a:p>
            <a:r>
              <a:rPr lang="en-US" sz="1600" dirty="0" err="1"/>
              <a:t>Reidenbach</a:t>
            </a:r>
            <a:r>
              <a:rPr lang="en-US" sz="1600" dirty="0"/>
              <a:t>, R. E., &amp; Robin, D. P. 1990. Toward the development of a multidimensional scale for improving evaluations of business ethics. </a:t>
            </a:r>
            <a:r>
              <a:rPr lang="en-US" sz="1600" i="1" dirty="0"/>
              <a:t>Journal of Business Ethics,</a:t>
            </a:r>
            <a:r>
              <a:rPr lang="en-US" sz="1600" dirty="0"/>
              <a:t> 9(8), 639–653. </a:t>
            </a:r>
            <a:r>
              <a:rPr lang="en-US" sz="1600" dirty="0">
                <a:hlinkClick r:id="rId5"/>
              </a:rPr>
              <a:t>https://doi.org/10.1007/BF00383391</a:t>
            </a:r>
            <a:r>
              <a:rPr lang="en-US" sz="1600" dirty="0"/>
              <a:t>.</a:t>
            </a:r>
          </a:p>
          <a:p>
            <a:r>
              <a:rPr lang="en-US" sz="1600" dirty="0" err="1"/>
              <a:t>Skrondal</a:t>
            </a:r>
            <a:r>
              <a:rPr lang="en-US" sz="1600" dirty="0"/>
              <a:t>, A., &amp; Rabe‐</a:t>
            </a:r>
            <a:r>
              <a:rPr lang="en-US" sz="1600" dirty="0" err="1"/>
              <a:t>Hesketh</a:t>
            </a:r>
            <a:r>
              <a:rPr lang="en-US" sz="1600" dirty="0"/>
              <a:t>, S. (2007). Latent variable modelling: A survey. </a:t>
            </a:r>
            <a:r>
              <a:rPr lang="en-US" sz="1600" i="1" dirty="0"/>
              <a:t>Scandinavian Journal of Statistics</a:t>
            </a:r>
            <a:r>
              <a:rPr lang="en-US" sz="1600" dirty="0"/>
              <a:t>, </a:t>
            </a:r>
            <a:r>
              <a:rPr lang="en-US" sz="1600" i="1" dirty="0"/>
              <a:t>34</a:t>
            </a:r>
            <a:r>
              <a:rPr lang="en-US" sz="1600" dirty="0"/>
              <a:t>(4), 712-745.</a:t>
            </a:r>
          </a:p>
          <a:p>
            <a:endParaRPr lang="fr-FR" sz="1600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53864" y="650786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E06CBBF-F474-4B51-954E-D698AF67DBCE}"/>
              </a:ext>
            </a:extLst>
          </p:cNvPr>
          <p:cNvSpPr txBox="1"/>
          <p:nvPr/>
        </p:nvSpPr>
        <p:spPr>
          <a:xfrm>
            <a:off x="3022791" y="423233"/>
            <a:ext cx="59462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b="1" dirty="0" err="1">
                <a:solidFill>
                  <a:schemeClr val="accent6">
                    <a:lumMod val="50000"/>
                  </a:schemeClr>
                </a:solidFill>
              </a:rPr>
              <a:t>Thank</a:t>
            </a:r>
            <a:r>
              <a:rPr lang="de-DE" sz="3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dirty="0" err="1">
                <a:solidFill>
                  <a:schemeClr val="accent6">
                    <a:lumMod val="50000"/>
                  </a:schemeClr>
                </a:solidFill>
              </a:rPr>
              <a:t>you</a:t>
            </a:r>
            <a:r>
              <a:rPr lang="de-DE" sz="3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dirty="0" err="1">
                <a:solidFill>
                  <a:schemeClr val="accent6">
                    <a:lumMod val="50000"/>
                  </a:schemeClr>
                </a:solidFill>
              </a:rPr>
              <a:t>for</a:t>
            </a:r>
            <a:r>
              <a:rPr lang="de-DE" sz="3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dirty="0" err="1">
                <a:solidFill>
                  <a:schemeClr val="accent6">
                    <a:lumMod val="50000"/>
                  </a:schemeClr>
                </a:solidFill>
              </a:rPr>
              <a:t>your</a:t>
            </a:r>
            <a:r>
              <a:rPr lang="de-DE" sz="3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dirty="0" err="1">
                <a:solidFill>
                  <a:schemeClr val="accent6">
                    <a:lumMod val="50000"/>
                  </a:schemeClr>
                </a:solidFill>
              </a:rPr>
              <a:t>attention</a:t>
            </a:r>
            <a:r>
              <a:rPr lang="de-DE" sz="3600" b="1" dirty="0">
                <a:solidFill>
                  <a:schemeClr val="accent6">
                    <a:lumMod val="50000"/>
                  </a:schemeClr>
                </a:solidFill>
              </a:rPr>
              <a:t>! </a:t>
            </a:r>
          </a:p>
          <a:p>
            <a:pPr algn="ctr"/>
            <a:r>
              <a:rPr lang="de-DE" sz="3600" b="1" dirty="0">
                <a:solidFill>
                  <a:schemeClr val="accent6">
                    <a:lumMod val="50000"/>
                  </a:schemeClr>
                </a:solidFill>
              </a:rPr>
              <a:t>Questions?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9A923A2-B045-FAC9-4BF2-8383E3A4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1418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7B19591-6962-131B-271D-7563DBF5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17" y="29974"/>
            <a:ext cx="1723219" cy="172321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8326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80979"/>
            <a:ext cx="10770124" cy="862336"/>
          </a:xfrm>
        </p:spPr>
        <p:txBody>
          <a:bodyPr>
            <a:normAutofit/>
          </a:bodyPr>
          <a:lstStyle/>
          <a:p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Ethic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Scale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I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4504" y="616453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FB1B6B6-DEA2-058D-C331-CD2698D0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17</a:t>
            </a:fld>
            <a:endParaRPr lang="de-DE"/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725F913F-923B-4056-8402-808EEC786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589906"/>
              </p:ext>
            </p:extLst>
          </p:nvPr>
        </p:nvGraphicFramePr>
        <p:xfrm>
          <a:off x="1884459" y="891584"/>
          <a:ext cx="7256343" cy="54549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2651">
                  <a:extLst>
                    <a:ext uri="{9D8B030D-6E8A-4147-A177-3AD203B41FA5}">
                      <a16:colId xmlns:a16="http://schemas.microsoft.com/office/drawing/2014/main" val="3715633233"/>
                    </a:ext>
                  </a:extLst>
                </a:gridCol>
                <a:gridCol w="2536478">
                  <a:extLst>
                    <a:ext uri="{9D8B030D-6E8A-4147-A177-3AD203B41FA5}">
                      <a16:colId xmlns:a16="http://schemas.microsoft.com/office/drawing/2014/main" val="1922697208"/>
                    </a:ext>
                  </a:extLst>
                </a:gridCol>
                <a:gridCol w="1718607">
                  <a:extLst>
                    <a:ext uri="{9D8B030D-6E8A-4147-A177-3AD203B41FA5}">
                      <a16:colId xmlns:a16="http://schemas.microsoft.com/office/drawing/2014/main" val="3360979210"/>
                    </a:ext>
                  </a:extLst>
                </a:gridCol>
                <a:gridCol w="1718607">
                  <a:extLst>
                    <a:ext uri="{9D8B030D-6E8A-4147-A177-3AD203B41FA5}">
                      <a16:colId xmlns:a16="http://schemas.microsoft.com/office/drawing/2014/main" val="1932627491"/>
                    </a:ext>
                  </a:extLst>
                </a:gridCol>
              </a:tblGrid>
              <a:tr h="238159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Ethics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Item number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negative (left)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positive (right)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extLst>
                  <a:ext uri="{0D108BD9-81ED-4DB2-BD59-A6C34878D82A}">
                    <a16:rowId xmlns:a16="http://schemas.microsoft.com/office/drawing/2014/main" val="2006863633"/>
                  </a:ext>
                </a:extLst>
              </a:tr>
              <a:tr h="45363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Relativism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"relativist01"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"...is culturally unacceptable"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"...is culturally acceptable"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extLst>
                  <a:ext uri="{0D108BD9-81ED-4DB2-BD59-A6C34878D82A}">
                    <a16:rowId xmlns:a16="http://schemas.microsoft.com/office/drawing/2014/main" val="1771378348"/>
                  </a:ext>
                </a:extLst>
              </a:tr>
              <a:tr h="453638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"relativist02"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effectLst/>
                        </a:rPr>
                        <a:t>"...is unacceptable to my family"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"...is acceptable to my family"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extLst>
                  <a:ext uri="{0D108BD9-81ED-4DB2-BD59-A6C34878D82A}">
                    <a16:rowId xmlns:a16="http://schemas.microsoft.com/office/drawing/2014/main" val="228401987"/>
                  </a:ext>
                </a:extLst>
              </a:tr>
              <a:tr h="453638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"relativist03"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"...is traditionally unacceptable"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"...is traditionally acceptable"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extLst>
                  <a:ext uri="{0D108BD9-81ED-4DB2-BD59-A6C34878D82A}">
                    <a16:rowId xmlns:a16="http://schemas.microsoft.com/office/drawing/2014/main" val="2439245005"/>
                  </a:ext>
                </a:extLst>
              </a:tr>
              <a:tr h="453638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"relativist04"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"...is individually unacceptable"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"...is individually acceptable"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extLst>
                  <a:ext uri="{0D108BD9-81ED-4DB2-BD59-A6C34878D82A}">
                    <a16:rowId xmlns:a16="http://schemas.microsoft.com/office/drawing/2014/main" val="2395184830"/>
                  </a:ext>
                </a:extLst>
              </a:tr>
              <a:tr h="453638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"relativist05"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"...is unacceptable to people I most admire"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"...is acceptable to people I most admire"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extLst>
                  <a:ext uri="{0D108BD9-81ED-4DB2-BD59-A6C34878D82A}">
                    <a16:rowId xmlns:a16="http://schemas.microsoft.com/office/drawing/2014/main" val="3903898289"/>
                  </a:ext>
                </a:extLst>
              </a:tr>
              <a:tr h="226819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Contractualism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"contractualist01"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"...is unjust"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"...is just"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extLst>
                  <a:ext uri="{0D108BD9-81ED-4DB2-BD59-A6C34878D82A}">
                    <a16:rowId xmlns:a16="http://schemas.microsoft.com/office/drawing/2014/main" val="2671693866"/>
                  </a:ext>
                </a:extLst>
              </a:tr>
              <a:tr h="226819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"contractualist02"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"...is unfair"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"...is fair"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extLst>
                  <a:ext uri="{0D108BD9-81ED-4DB2-BD59-A6C34878D82A}">
                    <a16:rowId xmlns:a16="http://schemas.microsoft.com/office/drawing/2014/main" val="3298026566"/>
                  </a:ext>
                </a:extLst>
              </a:tr>
              <a:tr h="453638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"contractualist03"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"…respects an unwritten contract"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"...does not respect an unwritten contract"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extLst>
                  <a:ext uri="{0D108BD9-81ED-4DB2-BD59-A6C34878D82A}">
                    <a16:rowId xmlns:a16="http://schemas.microsoft.com/office/drawing/2014/main" val="217529768"/>
                  </a:ext>
                </a:extLst>
              </a:tr>
              <a:tr h="453638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"contractualist04"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"…respects an unspoken promise"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"...does not respect an unspoken promise"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extLst>
                  <a:ext uri="{0D108BD9-81ED-4DB2-BD59-A6C34878D82A}">
                    <a16:rowId xmlns:a16="http://schemas.microsoft.com/office/drawing/2014/main" val="2726714773"/>
                  </a:ext>
                </a:extLst>
              </a:tr>
              <a:tr h="680456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"contractualist05"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"...does not result in an equal distribution of good and bad"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"...results in an equal distribution of good and bad"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extLst>
                  <a:ext uri="{0D108BD9-81ED-4DB2-BD59-A6C34878D82A}">
                    <a16:rowId xmlns:a16="http://schemas.microsoft.com/office/drawing/2014/main" val="3112266773"/>
                  </a:ext>
                </a:extLst>
              </a:tr>
              <a:tr h="453638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"contractualist06"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"...violates my ideas of fairness"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"...does not violate my ideas of fairness"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extLst>
                  <a:ext uri="{0D108BD9-81ED-4DB2-BD59-A6C34878D82A}">
                    <a16:rowId xmlns:a16="http://schemas.microsoft.com/office/drawing/2014/main" val="3295208643"/>
                  </a:ext>
                </a:extLst>
              </a:tr>
              <a:tr h="453638">
                <a:tc>
                  <a:txBody>
                    <a:bodyPr/>
                    <a:lstStyle/>
                    <a:p>
                      <a:pPr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effectLst/>
                        </a:rPr>
                        <a:t>"contractualist07"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"...impedes political rights"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effectLst/>
                        </a:rPr>
                        <a:t>"...supports political rights"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46" marR="9046" marT="9046" marB="0"/>
                </a:tc>
                <a:extLst>
                  <a:ext uri="{0D108BD9-81ED-4DB2-BD59-A6C34878D82A}">
                    <a16:rowId xmlns:a16="http://schemas.microsoft.com/office/drawing/2014/main" val="411125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925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7B19591-6962-131B-271D-7563DBF5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17" y="29974"/>
            <a:ext cx="1723219" cy="172321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8326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80979"/>
            <a:ext cx="10770124" cy="862336"/>
          </a:xfrm>
        </p:spPr>
        <p:txBody>
          <a:bodyPr>
            <a:normAutofit/>
          </a:bodyPr>
          <a:lstStyle/>
          <a:p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Ethic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Scale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II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FAADB8-E59F-4642-97DD-59E692E0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021" y="889567"/>
            <a:ext cx="10515600" cy="492310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de-DE" sz="1800" dirty="0">
              <a:latin typeface="ArialMT"/>
            </a:endParaRPr>
          </a:p>
          <a:p>
            <a:pPr marL="0" indent="0" algn="l">
              <a:buNone/>
            </a:pPr>
            <a:endParaRPr lang="en-US" sz="1800" b="0" i="0" u="none" strike="noStrike" baseline="0" dirty="0">
              <a:latin typeface="ArialMT"/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4504" y="616453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FB1B6B6-DEA2-058D-C331-CD2698D0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18</a:t>
            </a:fld>
            <a:endParaRPr lang="de-DE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0F66771-BB7E-416C-A0E5-D02F87CB6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161132"/>
              </p:ext>
            </p:extLst>
          </p:nvPr>
        </p:nvGraphicFramePr>
        <p:xfrm>
          <a:off x="2483143" y="808891"/>
          <a:ext cx="6579752" cy="55507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3054">
                  <a:extLst>
                    <a:ext uri="{9D8B030D-6E8A-4147-A177-3AD203B41FA5}">
                      <a16:colId xmlns:a16="http://schemas.microsoft.com/office/drawing/2014/main" val="75591213"/>
                    </a:ext>
                  </a:extLst>
                </a:gridCol>
                <a:gridCol w="2299974">
                  <a:extLst>
                    <a:ext uri="{9D8B030D-6E8A-4147-A177-3AD203B41FA5}">
                      <a16:colId xmlns:a16="http://schemas.microsoft.com/office/drawing/2014/main" val="4083804828"/>
                    </a:ext>
                  </a:extLst>
                </a:gridCol>
                <a:gridCol w="1558362">
                  <a:extLst>
                    <a:ext uri="{9D8B030D-6E8A-4147-A177-3AD203B41FA5}">
                      <a16:colId xmlns:a16="http://schemas.microsoft.com/office/drawing/2014/main" val="2485046514"/>
                    </a:ext>
                  </a:extLst>
                </a:gridCol>
                <a:gridCol w="1558362">
                  <a:extLst>
                    <a:ext uri="{9D8B030D-6E8A-4147-A177-3AD203B41FA5}">
                      <a16:colId xmlns:a16="http://schemas.microsoft.com/office/drawing/2014/main" val="3659781813"/>
                    </a:ext>
                  </a:extLst>
                </a:gridCol>
              </a:tblGrid>
              <a:tr h="1353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Ethics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Item number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negative (left)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positive (right)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2370625008"/>
                  </a:ext>
                </a:extLst>
              </a:tr>
              <a:tr h="25787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Hedonism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"hedonism01"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"...is personally unsatisfactory 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 dirty="0">
                          <a:effectLst/>
                        </a:rPr>
                        <a:t>"...is personally satisfactory"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2794003010"/>
                  </a:ext>
                </a:extLst>
              </a:tr>
              <a:tr h="257873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"hedonism02"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"...would be selfish for me to use"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 dirty="0">
                          <a:effectLst/>
                        </a:rPr>
                        <a:t>"...would not be selfish for me to use"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592283736"/>
                  </a:ext>
                </a:extLst>
              </a:tr>
              <a:tr h="386808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"hedonism03"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"...requires me to make sacrifices in order to use it"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"...does not require me to make sacrifices in order to use it"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2262109608"/>
                  </a:ext>
                </a:extLst>
              </a:tr>
              <a:tr h="257873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"hedonism04"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"...is not in the best interests of my person"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"...is in the best interests of my person"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1826836509"/>
                  </a:ext>
                </a:extLst>
              </a:tr>
              <a:tr h="257873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"hedonism05"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"...minimizes my pleasure"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"...maximizes my pleasure"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1861026570"/>
                  </a:ext>
                </a:extLst>
              </a:tr>
              <a:tr h="257873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"hedonism06"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"...is a hindrance to a good personal life"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"...promotes a good personal life"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3442834824"/>
                  </a:ext>
                </a:extLst>
              </a:tr>
              <a:tr h="128935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"hedonism07"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"...harms my health"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"...promotes my health"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4014230630"/>
                  </a:ext>
                </a:extLst>
              </a:tr>
              <a:tr h="257873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"hedonism08"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"...harms my freedom"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"...promotes my freedom"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1958077123"/>
                  </a:ext>
                </a:extLst>
              </a:tr>
              <a:tr h="128935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"hedonism09"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"...harms my safety"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"...promotes my safety"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2010731586"/>
                  </a:ext>
                </a:extLst>
              </a:tr>
              <a:tr h="257873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Utilitarianism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 dirty="0">
                          <a:effectLst/>
                        </a:rPr>
                        <a:t>"utilitarian01"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"…provides the least utility for society"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"…provides the greatest utility for society"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2577595308"/>
                  </a:ext>
                </a:extLst>
              </a:tr>
              <a:tr h="257873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"utilitarian02"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"...minimizes benefits for society"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"...maximizes benefits for society"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2014713272"/>
                  </a:ext>
                </a:extLst>
              </a:tr>
              <a:tr h="257873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"utilitarian03"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"...maximizes harm for society"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"...minimizes harm for society"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401914307"/>
                  </a:ext>
                </a:extLst>
              </a:tr>
              <a:tr h="257873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"utilitarian04"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"...tends overall to be bad for society"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"...tends overall to be good for society"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1536292145"/>
                  </a:ext>
                </a:extLst>
              </a:tr>
              <a:tr h="515743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"utilitarian05"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"...is not OK if actions can be justified by their consequences for society"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"...is OK if actions can be justified by their consequences for society"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2046128276"/>
                  </a:ext>
                </a:extLst>
              </a:tr>
              <a:tr h="386808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"utilitarian06"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"...leads to the least good for the greatest number"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"...leads to the greatest good for the greatest number"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3902391628"/>
                  </a:ext>
                </a:extLst>
              </a:tr>
              <a:tr h="386808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"utilitarian07"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"...leads to the greatest ill for the greatest number"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"...leads to the least ill for the greatest number"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3125035148"/>
                  </a:ext>
                </a:extLst>
              </a:tr>
              <a:tr h="386808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"utilitarian08"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"...results in a negative cost-benefit ratio for society"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"...results in a positive cost-benefit ratio for society"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2677013285"/>
                  </a:ext>
                </a:extLst>
              </a:tr>
              <a:tr h="257873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"utilitarian09"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"...is inefficient for society"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"...is efficient for society"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1041667010"/>
                  </a:ext>
                </a:extLst>
              </a:tr>
              <a:tr h="257873">
                <a:tc>
                  <a:txBody>
                    <a:bodyPr/>
                    <a:lstStyle/>
                    <a:p>
                      <a:pPr algn="l" fontAlgn="t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"utilitarian10"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"...leads to future harm for society"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 dirty="0">
                          <a:effectLst/>
                        </a:rPr>
                        <a:t>"...provides for future benefit society"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54" marR="5054" marT="5054" marB="0"/>
                </a:tc>
                <a:extLst>
                  <a:ext uri="{0D108BD9-81ED-4DB2-BD59-A6C34878D82A}">
                    <a16:rowId xmlns:a16="http://schemas.microsoft.com/office/drawing/2014/main" val="3498712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602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7B19591-6962-131B-271D-7563DBF5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17" y="29974"/>
            <a:ext cx="1723219" cy="172321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8326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80979"/>
            <a:ext cx="10770124" cy="862336"/>
          </a:xfrm>
        </p:spPr>
        <p:txBody>
          <a:bodyPr>
            <a:normAutofit/>
          </a:bodyPr>
          <a:lstStyle/>
          <a:p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Ethic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Scale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III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FAADB8-E59F-4642-97DD-59E692E0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021" y="889567"/>
            <a:ext cx="10515600" cy="492310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de-DE" sz="1800" dirty="0">
              <a:latin typeface="ArialMT"/>
            </a:endParaRPr>
          </a:p>
          <a:p>
            <a:pPr marL="0" indent="0" algn="l">
              <a:buNone/>
            </a:pPr>
            <a:endParaRPr lang="en-US" sz="1800" b="0" i="0" u="none" strike="noStrike" baseline="0" dirty="0">
              <a:latin typeface="ArialMT"/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4504" y="616453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FB1B6B6-DEA2-058D-C331-CD2698D0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19</a:t>
            </a:fld>
            <a:endParaRPr lang="de-DE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7DC8A6D2-F5AD-4C24-8C23-62FB892FA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39324"/>
              </p:ext>
            </p:extLst>
          </p:nvPr>
        </p:nvGraphicFramePr>
        <p:xfrm>
          <a:off x="2777149" y="864181"/>
          <a:ext cx="6465912" cy="53842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2932">
                  <a:extLst>
                    <a:ext uri="{9D8B030D-6E8A-4147-A177-3AD203B41FA5}">
                      <a16:colId xmlns:a16="http://schemas.microsoft.com/office/drawing/2014/main" val="2931548771"/>
                    </a:ext>
                  </a:extLst>
                </a:gridCol>
                <a:gridCol w="2260180">
                  <a:extLst>
                    <a:ext uri="{9D8B030D-6E8A-4147-A177-3AD203B41FA5}">
                      <a16:colId xmlns:a16="http://schemas.microsoft.com/office/drawing/2014/main" val="2695375178"/>
                    </a:ext>
                  </a:extLst>
                </a:gridCol>
                <a:gridCol w="1531400">
                  <a:extLst>
                    <a:ext uri="{9D8B030D-6E8A-4147-A177-3AD203B41FA5}">
                      <a16:colId xmlns:a16="http://schemas.microsoft.com/office/drawing/2014/main" val="40973659"/>
                    </a:ext>
                  </a:extLst>
                </a:gridCol>
                <a:gridCol w="1531400">
                  <a:extLst>
                    <a:ext uri="{9D8B030D-6E8A-4147-A177-3AD203B41FA5}">
                      <a16:colId xmlns:a16="http://schemas.microsoft.com/office/drawing/2014/main" val="38396106"/>
                    </a:ext>
                  </a:extLst>
                </a:gridCol>
              </a:tblGrid>
              <a:tr h="19461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Ethics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Item number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negative (left)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positive (right)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extLst>
                  <a:ext uri="{0D108BD9-81ED-4DB2-BD59-A6C34878D82A}">
                    <a16:rowId xmlns:a16="http://schemas.microsoft.com/office/drawing/2014/main" val="703056409"/>
                  </a:ext>
                </a:extLst>
              </a:tr>
              <a:tr h="556030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Deontology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"deontology01"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"...does not imply a moral obligation to act in a certain way"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"...implies a moral obligation to act in a certain way"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extLst>
                  <a:ext uri="{0D108BD9-81ED-4DB2-BD59-A6C34878D82A}">
                    <a16:rowId xmlns:a16="http://schemas.microsoft.com/office/drawing/2014/main" val="940630921"/>
                  </a:ext>
                </a:extLst>
              </a:tr>
              <a:tr h="370686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"deontology02"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"…harms the autonomy of users"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"…promotes the autonomy of users"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extLst>
                  <a:ext uri="{0D108BD9-81ED-4DB2-BD59-A6C34878D82A}">
                    <a16:rowId xmlns:a16="http://schemas.microsoft.com/office/drawing/2014/main" val="868820401"/>
                  </a:ext>
                </a:extLst>
              </a:tr>
              <a:tr h="370686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"deontology03"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"…obliges a certain immoral behaviour"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"...obliges a certain moral behaviour"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extLst>
                  <a:ext uri="{0D108BD9-81ED-4DB2-BD59-A6C34878D82A}">
                    <a16:rowId xmlns:a16="http://schemas.microsoft.com/office/drawing/2014/main" val="2322495958"/>
                  </a:ext>
                </a:extLst>
              </a:tr>
              <a:tr h="185343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"deontology04"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"...is not morally right"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"...is morally right"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extLst>
                  <a:ext uri="{0D108BD9-81ED-4DB2-BD59-A6C34878D82A}">
                    <a16:rowId xmlns:a16="http://schemas.microsoft.com/office/drawing/2014/main" val="1873472651"/>
                  </a:ext>
                </a:extLst>
              </a:tr>
              <a:tr h="556030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"deontology05"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"…goes against an important moral rule by which I live"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"...does not go against an important moral rule by which I live"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extLst>
                  <a:ext uri="{0D108BD9-81ED-4DB2-BD59-A6C34878D82A}">
                    <a16:rowId xmlns:a16="http://schemas.microsoft.com/office/drawing/2014/main" val="3796649756"/>
                  </a:ext>
                </a:extLst>
              </a:tr>
              <a:tr h="556030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"deontology06"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"...implies a moral obligation to act otherwise"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"...implies no moral obligation to act otherwise"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extLst>
                  <a:ext uri="{0D108BD9-81ED-4DB2-BD59-A6C34878D82A}">
                    <a16:rowId xmlns:a16="http://schemas.microsoft.com/office/drawing/2014/main" val="672778998"/>
                  </a:ext>
                </a:extLst>
              </a:tr>
              <a:tr h="556030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"deontology07"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"...prevents treatment with respect in interactions"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"...ensures treatment with respect in interactions"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extLst>
                  <a:ext uri="{0D108BD9-81ED-4DB2-BD59-A6C34878D82A}">
                    <a16:rowId xmlns:a16="http://schemas.microsoft.com/office/drawing/2014/main" val="1745044016"/>
                  </a:ext>
                </a:extLst>
              </a:tr>
              <a:tr h="556030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"deontology08"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"...prevents treatment with dignity in interactions"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"...ensures treatment with dignity in interactions"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extLst>
                  <a:ext uri="{0D108BD9-81ED-4DB2-BD59-A6C34878D82A}">
                    <a16:rowId xmlns:a16="http://schemas.microsoft.com/office/drawing/2014/main" val="2808712205"/>
                  </a:ext>
                </a:extLst>
              </a:tr>
              <a:tr h="370686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"deontology09"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"...attacks the intrinsic value of nature"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"...protects the intrinsic value of nature"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extLst>
                  <a:ext uri="{0D108BD9-81ED-4DB2-BD59-A6C34878D82A}">
                    <a16:rowId xmlns:a16="http://schemas.microsoft.com/office/drawing/2014/main" val="1028352715"/>
                  </a:ext>
                </a:extLst>
              </a:tr>
              <a:tr h="556030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"deontology10"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"...attacks the value of the ecological environment"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"…protects the value of the ecological environment"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extLst>
                  <a:ext uri="{0D108BD9-81ED-4DB2-BD59-A6C34878D82A}">
                    <a16:rowId xmlns:a16="http://schemas.microsoft.com/office/drawing/2014/main" val="257343168"/>
                  </a:ext>
                </a:extLst>
              </a:tr>
              <a:tr h="556030">
                <a:tc>
                  <a:txBody>
                    <a:bodyPr/>
                    <a:lstStyle/>
                    <a:p>
                      <a:pPr algn="l" fontAlgn="t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"deontology11"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"...attacks the value of the cultural environment"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dirty="0">
                          <a:effectLst/>
                        </a:rPr>
                        <a:t>"...protects the value of the cultural environment"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89" marR="7489" marT="7489" marB="0"/>
                </a:tc>
                <a:extLst>
                  <a:ext uri="{0D108BD9-81ED-4DB2-BD59-A6C34878D82A}">
                    <a16:rowId xmlns:a16="http://schemas.microsoft.com/office/drawing/2014/main" val="173921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022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7B19591-6962-131B-271D-7563DBF5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17" y="29974"/>
            <a:ext cx="1723219" cy="172321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8326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80979"/>
            <a:ext cx="10770124" cy="862336"/>
          </a:xfrm>
        </p:spPr>
        <p:txBody>
          <a:bodyPr>
            <a:normAutofit/>
          </a:bodyPr>
          <a:lstStyle/>
          <a:p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Ethic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Scale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IV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FAADB8-E59F-4642-97DD-59E692E0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021" y="889567"/>
            <a:ext cx="10515600" cy="492310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de-DE" sz="1800" dirty="0">
              <a:latin typeface="ArialMT"/>
            </a:endParaRPr>
          </a:p>
          <a:p>
            <a:pPr marL="0" indent="0" algn="l">
              <a:buNone/>
            </a:pPr>
            <a:endParaRPr lang="en-US" sz="1800" b="0" i="0" u="none" strike="noStrike" baseline="0" dirty="0">
              <a:latin typeface="ArialMT"/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4504" y="616453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FB1B6B6-DEA2-058D-C331-CD2698D0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20</a:t>
            </a:fld>
            <a:endParaRPr lang="de-DE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42335097-4AE1-4B0D-AE63-9A6684B99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149611"/>
              </p:ext>
            </p:extLst>
          </p:nvPr>
        </p:nvGraphicFramePr>
        <p:xfrm>
          <a:off x="2083680" y="1003275"/>
          <a:ext cx="7437121" cy="51676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4606">
                  <a:extLst>
                    <a:ext uri="{9D8B030D-6E8A-4147-A177-3AD203B41FA5}">
                      <a16:colId xmlns:a16="http://schemas.microsoft.com/office/drawing/2014/main" val="218857052"/>
                    </a:ext>
                  </a:extLst>
                </a:gridCol>
                <a:gridCol w="2599667">
                  <a:extLst>
                    <a:ext uri="{9D8B030D-6E8A-4147-A177-3AD203B41FA5}">
                      <a16:colId xmlns:a16="http://schemas.microsoft.com/office/drawing/2014/main" val="2959592775"/>
                    </a:ext>
                  </a:extLst>
                </a:gridCol>
                <a:gridCol w="1761424">
                  <a:extLst>
                    <a:ext uri="{9D8B030D-6E8A-4147-A177-3AD203B41FA5}">
                      <a16:colId xmlns:a16="http://schemas.microsoft.com/office/drawing/2014/main" val="974737462"/>
                    </a:ext>
                  </a:extLst>
                </a:gridCol>
                <a:gridCol w="1761424">
                  <a:extLst>
                    <a:ext uri="{9D8B030D-6E8A-4147-A177-3AD203B41FA5}">
                      <a16:colId xmlns:a16="http://schemas.microsoft.com/office/drawing/2014/main" val="3256179593"/>
                    </a:ext>
                  </a:extLst>
                </a:gridCol>
              </a:tblGrid>
              <a:tr h="169034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Ethics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Item number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negative (left)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positive (right)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extLst>
                  <a:ext uri="{0D108BD9-81ED-4DB2-BD59-A6C34878D82A}">
                    <a16:rowId xmlns:a16="http://schemas.microsoft.com/office/drawing/2014/main" val="3850397704"/>
                  </a:ext>
                </a:extLst>
              </a:tr>
              <a:tr h="482956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Virtue ethics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"virtue01"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"…is developed by someone who has wrong motivations"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"…is developed by someone who has good motivations"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extLst>
                  <a:ext uri="{0D108BD9-81ED-4DB2-BD59-A6C34878D82A}">
                    <a16:rowId xmlns:a16="http://schemas.microsoft.com/office/drawing/2014/main" val="3686095713"/>
                  </a:ext>
                </a:extLst>
              </a:tr>
              <a:tr h="482956">
                <a:tc>
                  <a:txBody>
                    <a:bodyPr/>
                    <a:lstStyle/>
                    <a:p>
                      <a:pPr algn="l" fontAlgn="t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"virtue02"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"…is developed by someone who has wrong desires"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"…is developed by someone who has good desires"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extLst>
                  <a:ext uri="{0D108BD9-81ED-4DB2-BD59-A6C34878D82A}">
                    <a16:rowId xmlns:a16="http://schemas.microsoft.com/office/drawing/2014/main" val="2403700868"/>
                  </a:ext>
                </a:extLst>
              </a:tr>
              <a:tr h="482956">
                <a:tc>
                  <a:txBody>
                    <a:bodyPr/>
                    <a:lstStyle/>
                    <a:p>
                      <a:pPr algn="l" fontAlgn="t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"virtue03"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"...is developed by someone who has a bad character"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"...is developed by someone who has a good character"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extLst>
                  <a:ext uri="{0D108BD9-81ED-4DB2-BD59-A6C34878D82A}">
                    <a16:rowId xmlns:a16="http://schemas.microsoft.com/office/drawing/2014/main" val="1097189910"/>
                  </a:ext>
                </a:extLst>
              </a:tr>
              <a:tr h="482956">
                <a:tc>
                  <a:txBody>
                    <a:bodyPr/>
                    <a:lstStyle/>
                    <a:p>
                      <a:pPr algn="l" fontAlgn="t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"virtue04"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"...is developed by someone who is not prudent"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"...is developed by someone who is prudent"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extLst>
                  <a:ext uri="{0D108BD9-81ED-4DB2-BD59-A6C34878D82A}">
                    <a16:rowId xmlns:a16="http://schemas.microsoft.com/office/drawing/2014/main" val="3040080521"/>
                  </a:ext>
                </a:extLst>
              </a:tr>
              <a:tr h="482956">
                <a:tc>
                  <a:txBody>
                    <a:bodyPr/>
                    <a:lstStyle/>
                    <a:p>
                      <a:pPr algn="l" fontAlgn="t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"virtue05"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"...is developed by someone who is not reasonable"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"...is developed by someone who is reasonable"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extLst>
                  <a:ext uri="{0D108BD9-81ED-4DB2-BD59-A6C34878D82A}">
                    <a16:rowId xmlns:a16="http://schemas.microsoft.com/office/drawing/2014/main" val="313834614"/>
                  </a:ext>
                </a:extLst>
              </a:tr>
              <a:tr h="643941">
                <a:tc>
                  <a:txBody>
                    <a:bodyPr/>
                    <a:lstStyle/>
                    <a:p>
                      <a:pPr algn="l" fontAlgn="t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"virtue06"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"...is developed by someone who is not striving for professional excellence"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"...is developed by someone who is striving for professional excellence"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extLst>
                  <a:ext uri="{0D108BD9-81ED-4DB2-BD59-A6C34878D82A}">
                    <a16:rowId xmlns:a16="http://schemas.microsoft.com/office/drawing/2014/main" val="2762419295"/>
                  </a:ext>
                </a:extLst>
              </a:tr>
              <a:tr h="643941">
                <a:tc>
                  <a:txBody>
                    <a:bodyPr/>
                    <a:lstStyle/>
                    <a:p>
                      <a:pPr algn="l" fontAlgn="t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"virtue07"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"...is developed by someone who is indifferent towards nature"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"…is developed by someone who is respectful towards nature"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extLst>
                  <a:ext uri="{0D108BD9-81ED-4DB2-BD59-A6C34878D82A}">
                    <a16:rowId xmlns:a16="http://schemas.microsoft.com/office/drawing/2014/main" val="1514590598"/>
                  </a:ext>
                </a:extLst>
              </a:tr>
              <a:tr h="804926">
                <a:tc>
                  <a:txBody>
                    <a:bodyPr/>
                    <a:lstStyle/>
                    <a:p>
                      <a:pPr algn="l" fontAlgn="t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"virtue08"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"…is developed by someone who is insensitive to interactions with society"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"…is developed by someone who is sensitive to interactions with society"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extLst>
                  <a:ext uri="{0D108BD9-81ED-4DB2-BD59-A6C34878D82A}">
                    <a16:rowId xmlns:a16="http://schemas.microsoft.com/office/drawing/2014/main" val="1407007524"/>
                  </a:ext>
                </a:extLst>
              </a:tr>
              <a:tr h="491005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"virtue09"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</a:rPr>
                        <a:t>"...is developed by someone who is acting on ill intentions"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</a:rPr>
                        <a:t>"...is developed by someone who is acting on good intentions"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8" marR="6778" marT="6778" marB="0"/>
                </a:tc>
                <a:extLst>
                  <a:ext uri="{0D108BD9-81ED-4DB2-BD59-A6C34878D82A}">
                    <a16:rowId xmlns:a16="http://schemas.microsoft.com/office/drawing/2014/main" val="2526339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585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7B19591-6962-131B-271D-7563DBF5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17" y="29974"/>
            <a:ext cx="1723219" cy="172321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172" y="8326"/>
            <a:ext cx="2680355" cy="7106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3676" y="180979"/>
            <a:ext cx="10770124" cy="862336"/>
          </a:xfrm>
        </p:spPr>
        <p:txBody>
          <a:bodyPr>
            <a:normAutofit/>
          </a:bodyPr>
          <a:lstStyle/>
          <a:p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Additional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methods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currently</a:t>
            </a:r>
            <a:r>
              <a:rPr lang="de-DE" sz="3600" b="1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sz="3600" b="1" i="1" dirty="0" err="1">
                <a:solidFill>
                  <a:schemeClr val="accent6">
                    <a:lumMod val="50000"/>
                  </a:schemeClr>
                </a:solidFill>
              </a:rPr>
              <a:t>researched</a:t>
            </a:r>
            <a:endParaRPr lang="de-DE" sz="36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FAADB8-E59F-4642-97DD-59E692E0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462" y="1322751"/>
            <a:ext cx="10515600" cy="4923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ArialMT"/>
              </a:rPr>
              <a:t>Cognitive-Affective Maps 			&lt;-&gt; 		Values-Informed Mental Model</a:t>
            </a:r>
            <a:endParaRPr lang="de-DE" sz="1800" dirty="0">
              <a:latin typeface="ArialMT"/>
            </a:endParaRPr>
          </a:p>
          <a:p>
            <a:pPr marL="0" indent="0" algn="l">
              <a:buNone/>
            </a:pPr>
            <a:endParaRPr lang="en-US" sz="1800" b="0" i="0" u="none" strike="noStrike" baseline="0" dirty="0">
              <a:latin typeface="ArialMT"/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09F9DC5-8A75-46F6-871B-B201EA6E1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4504" y="616453"/>
            <a:ext cx="1738023" cy="5502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23456F-92E2-4E2F-A4F5-F688D2D8571E}"/>
              </a:ext>
            </a:extLst>
          </p:cNvPr>
          <p:cNvSpPr txBox="1"/>
          <p:nvPr/>
        </p:nvSpPr>
        <p:spPr>
          <a:xfrm>
            <a:off x="1593251" y="6307689"/>
            <a:ext cx="900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6">
                    <a:lumMod val="50000"/>
                  </a:schemeClr>
                </a:solidFill>
              </a:rPr>
              <a:t>An Empirical Ethics Scale for Technology Assessment,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Lab Meeting, Keller Research Group, 06/27/2022</a:t>
            </a:r>
            <a:endParaRPr lang="de-DE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htwinkliges Dreieck 23">
            <a:extLst>
              <a:ext uri="{FF2B5EF4-FFF2-40B4-BE49-F238E27FC236}">
                <a16:creationId xmlns:a16="http://schemas.microsoft.com/office/drawing/2014/main" id="{6D8FA3EA-1159-49B6-868E-6B3711346058}"/>
              </a:ext>
            </a:extLst>
          </p:cNvPr>
          <p:cNvSpPr/>
          <p:nvPr/>
        </p:nvSpPr>
        <p:spPr>
          <a:xfrm rot="5400000">
            <a:off x="-3000508" y="3000507"/>
            <a:ext cx="6584690" cy="583676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57CBC60C-C031-4BA0-ADF8-932D4F5FE062}"/>
              </a:ext>
            </a:extLst>
          </p:cNvPr>
          <p:cNvSpPr/>
          <p:nvPr/>
        </p:nvSpPr>
        <p:spPr>
          <a:xfrm rot="16200000">
            <a:off x="8811680" y="3477681"/>
            <a:ext cx="6176963" cy="58367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FB1B6B6-DEA2-058D-C331-CD2698D0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C931-D845-4A53-9743-900552309BA7}" type="slidenum">
              <a:rPr lang="de-DE" smtClean="0"/>
              <a:t>21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EBB3D0C-405C-45D6-982D-C53D4931CA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366" y="2404256"/>
            <a:ext cx="5708795" cy="3288455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7AC49A9E-A010-4B6D-8E11-B3C718DC77EB}"/>
              </a:ext>
            </a:extLst>
          </p:cNvPr>
          <p:cNvSpPr txBox="1"/>
          <p:nvPr/>
        </p:nvSpPr>
        <p:spPr>
          <a:xfrm>
            <a:off x="6223262" y="5556988"/>
            <a:ext cx="308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Figure 1 </a:t>
            </a:r>
            <a:r>
              <a:rPr lang="de-DE" sz="1000" dirty="0" err="1"/>
              <a:t>from</a:t>
            </a:r>
            <a:r>
              <a:rPr lang="de-DE" sz="1000" dirty="0"/>
              <a:t> </a:t>
            </a:r>
            <a:r>
              <a:rPr lang="en-US" sz="1000" dirty="0"/>
              <a:t>Bessette et al.</a:t>
            </a:r>
            <a:r>
              <a:rPr lang="de-DE" sz="1000" dirty="0"/>
              <a:t>, 2017</a:t>
            </a:r>
            <a:endParaRPr lang="en-US" sz="10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477C1FE-D23D-402F-8095-EC34454042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522" y="1821570"/>
            <a:ext cx="5697740" cy="271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19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3206</Words>
  <Application>Microsoft Office PowerPoint</Application>
  <PresentationFormat>Breitbild</PresentationFormat>
  <Paragraphs>406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8" baseType="lpstr">
      <vt:lpstr>Aller</vt:lpstr>
      <vt:lpstr>Arial</vt:lpstr>
      <vt:lpstr>ArialMT</vt:lpstr>
      <vt:lpstr>Calibri</vt:lpstr>
      <vt:lpstr>Calibri Light</vt:lpstr>
      <vt:lpstr>Times New Roman</vt:lpstr>
      <vt:lpstr>Office</vt:lpstr>
      <vt:lpstr>An Empirical Ethics Scale for Technology Assessment: Challenges and Perspectives for a Real Time Ethics  Lab Meeting, Keller Research Group, Monday 06/27/2022</vt:lpstr>
      <vt:lpstr>An Empirical Ethics Scale for Technology Assessment</vt:lpstr>
      <vt:lpstr> (1) Challenges for technology assessment  and flood risk management: stakeholder attitudes </vt:lpstr>
      <vt:lpstr> (2) Responses: Inter- and transdisciplinarity,  empirical ethics, and real-time ethics </vt:lpstr>
      <vt:lpstr>(3.1) Methodological implementation:  ethics scale on six key ethics types</vt:lpstr>
      <vt:lpstr> (3.2) Methodological implementation:  ethics scale on six key ethics types </vt:lpstr>
      <vt:lpstr> (3.3) Methodological implementation:  ethics scale on six key ethics types </vt:lpstr>
      <vt:lpstr>(4) Forthcoming: validation study </vt:lpstr>
      <vt:lpstr>(5) Statistical opportunities: collecting data  </vt:lpstr>
      <vt:lpstr>(5) Statistical opportunities: latent variable models  </vt:lpstr>
      <vt:lpstr>(5.1) mean comparison</vt:lpstr>
      <vt:lpstr>(5.2) latent class analyis / cluster analysis</vt:lpstr>
      <vt:lpstr>(5.3) structural equation model</vt:lpstr>
      <vt:lpstr>(5.3) ethic predict acceptability</vt:lpstr>
      <vt:lpstr>(6) Conclusions</vt:lpstr>
      <vt:lpstr>Bibliography</vt:lpstr>
      <vt:lpstr>Ethic Scale I</vt:lpstr>
      <vt:lpstr>Ethic Scale II</vt:lpstr>
      <vt:lpstr>Ethic Scale III</vt:lpstr>
      <vt:lpstr>Ethic Scale IV</vt:lpstr>
      <vt:lpstr>Additional methods currently researched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THEORIEN DER ANERKENNUNG: ZU EINEM GRUNDBEGRIFF DER PRAKTISCHEN PHILOSOPHIE</dc:title>
  <dc:creator>Philipp Höfele</dc:creator>
  <cp:lastModifiedBy>Philipp Höfele</cp:lastModifiedBy>
  <cp:revision>182</cp:revision>
  <dcterms:created xsi:type="dcterms:W3CDTF">2021-10-19T11:23:17Z</dcterms:created>
  <dcterms:modified xsi:type="dcterms:W3CDTF">2022-06-27T16:02:58Z</dcterms:modified>
</cp:coreProperties>
</file>